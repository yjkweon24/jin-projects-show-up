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3" r:id="rId3"/>
    <p:sldId id="281" r:id="rId4"/>
    <p:sldId id="284" r:id="rId5"/>
    <p:sldId id="285" r:id="rId6"/>
    <p:sldId id="293" r:id="rId7"/>
    <p:sldId id="294" r:id="rId8"/>
    <p:sldId id="295" r:id="rId9"/>
    <p:sldId id="296" r:id="rId10"/>
    <p:sldId id="286" r:id="rId11"/>
    <p:sldId id="297" r:id="rId12"/>
    <p:sldId id="298" r:id="rId13"/>
    <p:sldId id="265" r:id="rId14"/>
    <p:sldId id="287" r:id="rId15"/>
    <p:sldId id="288" r:id="rId16"/>
    <p:sldId id="299" r:id="rId17"/>
    <p:sldId id="289" r:id="rId18"/>
    <p:sldId id="290" r:id="rId19"/>
    <p:sldId id="291" r:id="rId20"/>
    <p:sldId id="300" r:id="rId21"/>
    <p:sldId id="278" r:id="rId22"/>
    <p:sldId id="301" r:id="rId23"/>
    <p:sldId id="292" r:id="rId24"/>
    <p:sldId id="269"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42" autoAdjust="0"/>
    <p:restoredTop sz="94660"/>
  </p:normalViewPr>
  <p:slideViewPr>
    <p:cSldViewPr snapToGrid="0">
      <p:cViewPr varScale="1">
        <p:scale>
          <a:sx n="73" d="100"/>
          <a:sy n="73" d="100"/>
        </p:scale>
        <p:origin x="232" y="1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E329A9-E1DF-574E-9124-A0323BF0C9FB}" type="datetimeFigureOut">
              <a:rPr lang="en-US" smtClean="0"/>
              <a:t>1/5/21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1379EF-419F-1840-AA34-A756574E02C8}" type="slidenum">
              <a:rPr lang="en-US" smtClean="0"/>
              <a:t>‹#›</a:t>
            </a:fld>
            <a:endParaRPr lang="en-US"/>
          </a:p>
        </p:txBody>
      </p:sp>
    </p:spTree>
    <p:extLst>
      <p:ext uri="{BB962C8B-B14F-4D97-AF65-F5344CB8AC3E}">
        <p14:creationId xmlns:p14="http://schemas.microsoft.com/office/powerpoint/2010/main" val="85390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p:cNvSpPr>
            <a:spLocks noGrp="1"/>
          </p:cNvSpPr>
          <p:nvPr>
            <p:ph type="dt" sz="half" idx="10"/>
          </p:nvPr>
        </p:nvSpPr>
        <p:spPr/>
        <p:txBody>
          <a:bodyPr/>
          <a:lstStyle/>
          <a:p>
            <a:fld id="{A2386DCD-4B2D-4ED7-A26A-98483C3464B4}" type="datetimeFigureOut">
              <a:rPr lang="de-DE" smtClean="0"/>
              <a:t>05.01.21</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327696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A2386DCD-4B2D-4ED7-A26A-98483C3464B4}" type="datetimeFigureOut">
              <a:rPr lang="de-DE" smtClean="0"/>
              <a:t>05.01.21</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1911928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386DCD-4B2D-4ED7-A26A-98483C3464B4}" type="datetimeFigureOut">
              <a:rPr lang="de-DE" smtClean="0"/>
              <a:t>05.01.21</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2644991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p:cNvSpPr>
            <a:spLocks noGrp="1"/>
          </p:cNvSpPr>
          <p:nvPr>
            <p:ph type="dt" sz="half" idx="10"/>
          </p:nvPr>
        </p:nvSpPr>
        <p:spPr/>
        <p:txBody>
          <a:bodyPr/>
          <a:lstStyle/>
          <a:p>
            <a:fld id="{A2386DCD-4B2D-4ED7-A26A-98483C3464B4}" type="datetimeFigureOut">
              <a:rPr lang="de-DE" smtClean="0"/>
              <a:t>05.01.21</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13624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p:cNvSpPr>
            <a:spLocks noGrp="1"/>
          </p:cNvSpPr>
          <p:nvPr>
            <p:ph type="dt" sz="half" idx="10"/>
          </p:nvPr>
        </p:nvSpPr>
        <p:spPr/>
        <p:txBody>
          <a:bodyPr/>
          <a:lstStyle/>
          <a:p>
            <a:fld id="{A2386DCD-4B2D-4ED7-A26A-98483C3464B4}" type="datetimeFigureOut">
              <a:rPr lang="de-DE" smtClean="0"/>
              <a:t>05.01.21</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374567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Date Placeholder 2"/>
          <p:cNvSpPr>
            <a:spLocks noGrp="1"/>
          </p:cNvSpPr>
          <p:nvPr>
            <p:ph type="dt" sz="half" idx="10"/>
          </p:nvPr>
        </p:nvSpPr>
        <p:spPr/>
        <p:txBody>
          <a:bodyPr/>
          <a:lstStyle/>
          <a:p>
            <a:fld id="{A2386DCD-4B2D-4ED7-A26A-98483C3464B4}" type="datetimeFigureOut">
              <a:rPr lang="de-DE" smtClean="0"/>
              <a:t>05.01.21</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222394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86DCD-4B2D-4ED7-A26A-98483C3464B4}" type="datetimeFigureOut">
              <a:rPr lang="de-DE" smtClean="0"/>
              <a:t>05.01.21</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4230128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386DCD-4B2D-4ED7-A26A-98483C3464B4}" type="datetimeFigureOut">
              <a:rPr lang="de-DE" smtClean="0"/>
              <a:t>05.01.21</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1547194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2386DCD-4B2D-4ED7-A26A-98483C3464B4}" type="datetimeFigureOut">
              <a:rPr lang="de-DE" smtClean="0"/>
              <a:t>05.01.21</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125042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A2386DCD-4B2D-4ED7-A26A-98483C3464B4}" type="datetimeFigureOut">
              <a:rPr lang="de-DE" smtClean="0"/>
              <a:t>05.01.21</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3996609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10"/>
          </p:nvPr>
        </p:nvSpPr>
        <p:spPr/>
        <p:txBody>
          <a:bodyPr/>
          <a:lstStyle/>
          <a:p>
            <a:fld id="{A2386DCD-4B2D-4ED7-A26A-98483C3464B4}" type="datetimeFigureOut">
              <a:rPr lang="de-DE" smtClean="0"/>
              <a:t>05.01.21</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4BD48FA-CAD5-4012-85AB-64563FB52A84}" type="slidenum">
              <a:rPr lang="de-DE" smtClean="0"/>
              <a:t>‹#›</a:t>
            </a:fld>
            <a:endParaRPr lang="de-DE"/>
          </a:p>
        </p:txBody>
      </p:sp>
    </p:spTree>
    <p:extLst>
      <p:ext uri="{BB962C8B-B14F-4D97-AF65-F5344CB8AC3E}">
        <p14:creationId xmlns:p14="http://schemas.microsoft.com/office/powerpoint/2010/main" val="219724124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386DCD-4B2D-4ED7-A26A-98483C3464B4}" type="datetimeFigureOut">
              <a:rPr lang="de-DE" smtClean="0"/>
              <a:t>05.01.21</a:t>
            </a:fld>
            <a:endParaRPr lang="de-D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D48FA-CAD5-4012-85AB-64563FB52A84}" type="slidenum">
              <a:rPr lang="de-DE" smtClean="0"/>
              <a:t>‹#›</a:t>
            </a:fld>
            <a:endParaRPr lang="de-DE"/>
          </a:p>
        </p:txBody>
      </p:sp>
    </p:spTree>
    <p:extLst>
      <p:ext uri="{BB962C8B-B14F-4D97-AF65-F5344CB8AC3E}">
        <p14:creationId xmlns:p14="http://schemas.microsoft.com/office/powerpoint/2010/main" val="3306763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forecast.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de-DE" dirty="0"/>
              <a:t>Find the method to predict the future hydropower generation </a:t>
            </a:r>
          </a:p>
        </p:txBody>
      </p:sp>
      <p:sp>
        <p:nvSpPr>
          <p:cNvPr id="3" name="Subtitle 2"/>
          <p:cNvSpPr>
            <a:spLocks noGrp="1"/>
          </p:cNvSpPr>
          <p:nvPr>
            <p:ph type="subTitle" idx="1"/>
          </p:nvPr>
        </p:nvSpPr>
        <p:spPr/>
        <p:txBody>
          <a:bodyPr/>
          <a:lstStyle/>
          <a:p>
            <a:r>
              <a:rPr lang="de-DE" dirty="0"/>
              <a:t>10/31</a:t>
            </a:r>
          </a:p>
        </p:txBody>
      </p:sp>
    </p:spTree>
    <p:extLst>
      <p:ext uri="{BB962C8B-B14F-4D97-AF65-F5344CB8AC3E}">
        <p14:creationId xmlns:p14="http://schemas.microsoft.com/office/powerpoint/2010/main" val="3002474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Literature Review</a:t>
            </a:r>
          </a:p>
        </p:txBody>
      </p:sp>
      <p:sp>
        <p:nvSpPr>
          <p:cNvPr id="3" name="Content Placeholder 2"/>
          <p:cNvSpPr>
            <a:spLocks noGrp="1"/>
          </p:cNvSpPr>
          <p:nvPr>
            <p:ph idx="1"/>
          </p:nvPr>
        </p:nvSpPr>
        <p:spPr/>
        <p:txBody>
          <a:bodyPr/>
          <a:lstStyle/>
          <a:p>
            <a:pPr marL="514350" indent="-514350">
              <a:buAutoNum type="arabicPeriod"/>
            </a:pPr>
            <a:r>
              <a:rPr lang="de-DE" dirty="0"/>
              <a:t>Alejandra (Former research intern)</a:t>
            </a:r>
          </a:p>
          <a:p>
            <a:pPr marL="514350" indent="-514350">
              <a:buAutoNum type="arabicPeriod"/>
            </a:pPr>
            <a:r>
              <a:rPr lang="en-US" dirty="0"/>
              <a:t>Applying a Correlation Analysis Method to Long-Term Forecasting of Power Production at Small Hydropower Plants</a:t>
            </a:r>
          </a:p>
          <a:p>
            <a:pPr marL="514350" indent="-514350">
              <a:buFont typeface="Arial" panose="020B0604020202020204" pitchFamily="34" charset="0"/>
              <a:buAutoNum type="arabicPeriod"/>
            </a:pPr>
            <a:r>
              <a:rPr lang="en-US" dirty="0"/>
              <a:t>Projecting changes in annual hydropower generation using regional</a:t>
            </a:r>
            <a:r>
              <a:rPr lang="de-DE" dirty="0"/>
              <a:t> </a:t>
            </a:r>
            <a:r>
              <a:rPr lang="en-US" dirty="0"/>
              <a:t>runoff data</a:t>
            </a:r>
          </a:p>
          <a:p>
            <a:pPr marL="514350" indent="-514350">
              <a:buFont typeface="Arial" panose="020B0604020202020204" pitchFamily="34" charset="0"/>
              <a:buAutoNum type="arabicPeriod"/>
            </a:pPr>
            <a:r>
              <a:rPr lang="en-US" sz="2400" dirty="0">
                <a:latin typeface="Calibri Light (Headings)"/>
              </a:rPr>
              <a:t>The Role of Rainfall Variability in Reservoir Storage Management at </a:t>
            </a:r>
            <a:r>
              <a:rPr lang="de-DE" sz="2400" dirty="0">
                <a:latin typeface="Calibri Light (Headings)"/>
              </a:rPr>
              <a:t>Hydropower Dam</a:t>
            </a:r>
            <a:endParaRPr lang="en-US" sz="2400" dirty="0"/>
          </a:p>
          <a:p>
            <a:pPr marL="514350" indent="-514350">
              <a:buFont typeface="Arial" panose="020B0604020202020204" pitchFamily="34" charset="0"/>
              <a:buAutoNum type="arabicPeriod"/>
            </a:pPr>
            <a:endParaRPr lang="en-US" dirty="0"/>
          </a:p>
          <a:p>
            <a:pPr marL="514350" indent="-514350">
              <a:buAutoNum type="arabicPeriod"/>
            </a:pPr>
            <a:endParaRPr lang="en-US" dirty="0"/>
          </a:p>
          <a:p>
            <a:pPr marL="514350" indent="-514350">
              <a:buAutoNum type="arabicPeriod"/>
            </a:pPr>
            <a:endParaRPr lang="de-DE" dirty="0"/>
          </a:p>
          <a:p>
            <a:pPr marL="514350" indent="-514350">
              <a:buAutoNum type="arabicPeriod"/>
            </a:pPr>
            <a:endParaRPr lang="de-DE" dirty="0"/>
          </a:p>
        </p:txBody>
      </p:sp>
    </p:spTree>
    <p:extLst>
      <p:ext uri="{BB962C8B-B14F-4D97-AF65-F5344CB8AC3E}">
        <p14:creationId xmlns:p14="http://schemas.microsoft.com/office/powerpoint/2010/main" val="2603315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823" y="509048"/>
            <a:ext cx="11799217" cy="6174556"/>
          </a:xfrm>
        </p:spPr>
        <p:txBody>
          <a:bodyPr>
            <a:normAutofit lnSpcReduction="10000"/>
          </a:bodyPr>
          <a:lstStyle/>
          <a:p>
            <a:r>
              <a:rPr lang="de-DE" dirty="0"/>
              <a:t>Summary / goal:</a:t>
            </a:r>
          </a:p>
          <a:p>
            <a:pPr>
              <a:buFontTx/>
              <a:buChar char="-"/>
            </a:pPr>
            <a:r>
              <a:rPr lang="de-DE" dirty="0"/>
              <a:t>She tried to find which factors are linked to the production of certain hydro power stations. Her goal was to predict the behaviors of hydro stations given input variables as amount of precipitation and drought levels. </a:t>
            </a:r>
          </a:p>
          <a:p>
            <a:pPr>
              <a:buFontTx/>
              <a:buChar char="-"/>
            </a:pPr>
            <a:endParaRPr lang="de-DE" dirty="0"/>
          </a:p>
          <a:p>
            <a:pPr>
              <a:buFontTx/>
              <a:buChar char="-"/>
            </a:pPr>
            <a:r>
              <a:rPr lang="de-DE" dirty="0"/>
              <a:t>So, she looked into the precipitation levels and correlate them with energy production. (</a:t>
            </a:r>
            <a:r>
              <a:rPr lang="de-DE" dirty="0">
                <a:hlinkClick r:id="rId2"/>
              </a:rPr>
              <a:t>http://forecast.io</a:t>
            </a:r>
            <a:r>
              <a:rPr lang="de-DE" dirty="0"/>
              <a:t>)</a:t>
            </a:r>
          </a:p>
          <a:p>
            <a:pPr>
              <a:buFontTx/>
              <a:buChar char="-"/>
            </a:pPr>
            <a:endParaRPr lang="de-DE" dirty="0"/>
          </a:p>
          <a:p>
            <a:pPr>
              <a:buFontTx/>
              <a:buChar char="-"/>
            </a:pPr>
            <a:r>
              <a:rPr lang="de-DE" dirty="0"/>
              <a:t>In order to find a relationship between climate data and the net production of all reservoirs Hydrop power stations, she applied a linear regression using the ordinary least squares method. </a:t>
            </a:r>
          </a:p>
          <a:p>
            <a:pPr>
              <a:buFontTx/>
              <a:buChar char="-"/>
            </a:pPr>
            <a:endParaRPr lang="de-DE" dirty="0"/>
          </a:p>
          <a:p>
            <a:pPr>
              <a:buFontTx/>
              <a:buChar char="-"/>
            </a:pPr>
            <a:r>
              <a:rPr lang="de-DE" dirty="0"/>
              <a:t>She concluded that those two variables have something to do with hydro power production, yet the correlations are too low to be considered meanigful.</a:t>
            </a:r>
          </a:p>
          <a:p>
            <a:pPr marL="0" indent="0">
              <a:buNone/>
            </a:pPr>
            <a:endParaRPr lang="de-DE" dirty="0"/>
          </a:p>
          <a:p>
            <a:pPr marL="0" indent="0">
              <a:buNone/>
            </a:pPr>
            <a:endParaRPr lang="de-DE" dirty="0"/>
          </a:p>
        </p:txBody>
      </p:sp>
      <p:sp>
        <p:nvSpPr>
          <p:cNvPr id="5" name="Title 1"/>
          <p:cNvSpPr>
            <a:spLocks noGrp="1"/>
          </p:cNvSpPr>
          <p:nvPr>
            <p:ph type="title"/>
          </p:nvPr>
        </p:nvSpPr>
        <p:spPr>
          <a:xfrm>
            <a:off x="172824" y="176753"/>
            <a:ext cx="11953188" cy="575035"/>
          </a:xfrm>
        </p:spPr>
        <p:txBody>
          <a:bodyPr>
            <a:normAutofit fontScale="90000"/>
          </a:bodyPr>
          <a:lstStyle/>
          <a:p>
            <a:r>
              <a:rPr lang="de-DE" sz="3600" b="1" i="1" dirty="0"/>
              <a:t>1.  Alejandra‘s approach</a:t>
            </a:r>
            <a:r>
              <a:rPr lang="en-US" b="1" i="1" dirty="0"/>
              <a:t/>
            </a:r>
            <a:br>
              <a:rPr lang="en-US" b="1" i="1" dirty="0"/>
            </a:br>
            <a:endParaRPr lang="de-DE" dirty="0"/>
          </a:p>
        </p:txBody>
      </p:sp>
    </p:spTree>
    <p:extLst>
      <p:ext uri="{BB962C8B-B14F-4D97-AF65-F5344CB8AC3E}">
        <p14:creationId xmlns:p14="http://schemas.microsoft.com/office/powerpoint/2010/main" val="2445974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84841"/>
            <a:ext cx="11231252" cy="575035"/>
          </a:xfrm>
        </p:spPr>
        <p:txBody>
          <a:bodyPr>
            <a:normAutofit fontScale="90000"/>
          </a:bodyPr>
          <a:lstStyle/>
          <a:p>
            <a:r>
              <a:rPr lang="de-DE" dirty="0"/>
              <a:t>Challenges</a:t>
            </a:r>
          </a:p>
        </p:txBody>
      </p:sp>
      <p:sp>
        <p:nvSpPr>
          <p:cNvPr id="3" name="Content Placeholder 2"/>
          <p:cNvSpPr>
            <a:spLocks noGrp="1"/>
          </p:cNvSpPr>
          <p:nvPr>
            <p:ph idx="1"/>
          </p:nvPr>
        </p:nvSpPr>
        <p:spPr>
          <a:xfrm>
            <a:off x="122548" y="2187019"/>
            <a:ext cx="11906054" cy="4477732"/>
          </a:xfrm>
        </p:spPr>
        <p:txBody>
          <a:bodyPr/>
          <a:lstStyle/>
          <a:p>
            <a:r>
              <a:rPr lang="de-DE" dirty="0"/>
              <a:t>Lack of Data</a:t>
            </a:r>
          </a:p>
          <a:p>
            <a:endParaRPr lang="de-DE" dirty="0"/>
          </a:p>
          <a:p>
            <a:pPr marL="0" indent="0">
              <a:buNone/>
            </a:pPr>
            <a:endParaRPr lang="de-DE" dirty="0"/>
          </a:p>
          <a:p>
            <a:r>
              <a:rPr lang="de-DE" dirty="0"/>
              <a:t>Need more variables</a:t>
            </a:r>
          </a:p>
          <a:p>
            <a:endParaRPr lang="de-DE" dirty="0"/>
          </a:p>
          <a:p>
            <a:endParaRPr lang="de-DE" dirty="0"/>
          </a:p>
        </p:txBody>
      </p:sp>
    </p:spTree>
    <p:extLst>
      <p:ext uri="{BB962C8B-B14F-4D97-AF65-F5344CB8AC3E}">
        <p14:creationId xmlns:p14="http://schemas.microsoft.com/office/powerpoint/2010/main" val="1910795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951" y="1074656"/>
            <a:ext cx="11808643" cy="5656082"/>
          </a:xfrm>
        </p:spPr>
        <p:txBody>
          <a:bodyPr>
            <a:normAutofit fontScale="92500" lnSpcReduction="10000"/>
          </a:bodyPr>
          <a:lstStyle/>
          <a:p>
            <a:r>
              <a:rPr lang="de-DE" dirty="0"/>
              <a:t>Summary / goal:</a:t>
            </a:r>
          </a:p>
          <a:p>
            <a:pPr>
              <a:buFontTx/>
              <a:buChar char="-"/>
            </a:pPr>
            <a:r>
              <a:rPr lang="de-DE" dirty="0"/>
              <a:t>SHP (small hydrop plants) are hard to be estimated compared to LHP (large and medium hydrop plants) due to difficulty of information collection, lack of available data accumulation, difficulty to forecast its power production because of strong uncertainty and flunctuation.</a:t>
            </a:r>
          </a:p>
          <a:p>
            <a:pPr>
              <a:buFontTx/>
              <a:buChar char="-"/>
            </a:pPr>
            <a:endParaRPr lang="de-DE" dirty="0"/>
          </a:p>
          <a:p>
            <a:pPr>
              <a:buFontTx/>
              <a:buChar char="-"/>
            </a:pPr>
            <a:r>
              <a:rPr lang="en-US" dirty="0"/>
              <a:t>The power production of SHP indicates the maximum generation capacity of an SHP plant under certain meteorological and hydrological conditions, which are easily influenced by factors, such as hydrology, climate, and installation capacity. Therefore forecasting the power production of an SHP plant is a </a:t>
            </a:r>
            <a:r>
              <a:rPr lang="en-US" i="1" u="sng" dirty="0">
                <a:solidFill>
                  <a:srgbClr val="FF0000"/>
                </a:solidFill>
              </a:rPr>
              <a:t>nonlinear, multi-factor complicated problem</a:t>
            </a:r>
            <a:r>
              <a:rPr lang="en-US" dirty="0"/>
              <a:t>. </a:t>
            </a:r>
          </a:p>
          <a:p>
            <a:pPr>
              <a:buFontTx/>
              <a:buChar char="-"/>
            </a:pPr>
            <a:endParaRPr lang="en-US" dirty="0"/>
          </a:p>
          <a:p>
            <a:pPr>
              <a:buFontTx/>
              <a:buChar char="-"/>
            </a:pPr>
            <a:r>
              <a:rPr lang="en-US" dirty="0"/>
              <a:t>SHP and LHP plants in the same region or neighborhood have similarities in some aspects of hydrology, meteorology and geography. As a result, some correlation exists between SHP and LHP in some aspects.</a:t>
            </a:r>
          </a:p>
          <a:p>
            <a:pPr marL="0" indent="0">
              <a:buNone/>
            </a:pPr>
            <a:endParaRPr lang="en-US" dirty="0"/>
          </a:p>
          <a:p>
            <a:pPr marL="0" indent="0">
              <a:buNone/>
            </a:pPr>
            <a:endParaRPr lang="de-DE" dirty="0"/>
          </a:p>
          <a:p>
            <a:pPr marL="0" indent="0">
              <a:buNone/>
            </a:pPr>
            <a:endParaRPr lang="de-DE" dirty="0"/>
          </a:p>
          <a:p>
            <a:pPr marL="0" indent="0">
              <a:buNone/>
            </a:pPr>
            <a:endParaRPr lang="de-DE" dirty="0"/>
          </a:p>
        </p:txBody>
      </p:sp>
      <p:sp>
        <p:nvSpPr>
          <p:cNvPr id="4" name="Title 1"/>
          <p:cNvSpPr>
            <a:spLocks noGrp="1"/>
          </p:cNvSpPr>
          <p:nvPr>
            <p:ph type="title"/>
          </p:nvPr>
        </p:nvSpPr>
        <p:spPr>
          <a:xfrm>
            <a:off x="119406" y="770641"/>
            <a:ext cx="11953188" cy="575035"/>
          </a:xfrm>
        </p:spPr>
        <p:txBody>
          <a:bodyPr>
            <a:normAutofit fontScale="90000"/>
          </a:bodyPr>
          <a:lstStyle/>
          <a:p>
            <a:r>
              <a:rPr lang="en-US" sz="3600" dirty="0"/>
              <a:t>2. Applying a Correlation Analysis Method to Long-Term Forecasting of Power Production at Small Hydropower Plants</a:t>
            </a:r>
            <a:br>
              <a:rPr lang="en-US" sz="3600" dirty="0"/>
            </a:br>
            <a:r>
              <a:rPr lang="en-US" b="1" i="1" dirty="0"/>
              <a:t/>
            </a:r>
            <a:br>
              <a:rPr lang="en-US" b="1" i="1" dirty="0"/>
            </a:br>
            <a:endParaRPr lang="de-DE" dirty="0"/>
          </a:p>
        </p:txBody>
      </p:sp>
    </p:spTree>
    <p:extLst>
      <p:ext uri="{BB962C8B-B14F-4D97-AF65-F5344CB8AC3E}">
        <p14:creationId xmlns:p14="http://schemas.microsoft.com/office/powerpoint/2010/main" val="147068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524" y="386500"/>
            <a:ext cx="11840066" cy="6372520"/>
          </a:xfrm>
        </p:spPr>
        <p:txBody>
          <a:bodyPr>
            <a:normAutofit fontScale="70000" lnSpcReduction="20000"/>
          </a:bodyPr>
          <a:lstStyle/>
          <a:p>
            <a:r>
              <a:rPr lang="de-DE" sz="3800" dirty="0"/>
              <a:t>Why SHP hard?</a:t>
            </a:r>
          </a:p>
          <a:p>
            <a:pPr marL="514350" indent="-514350">
              <a:buAutoNum type="arabicPeriod"/>
            </a:pPr>
            <a:r>
              <a:rPr lang="en-US" sz="3800" dirty="0"/>
              <a:t>weakness in management, difficulty of information collection, and lack of available data accumulation </a:t>
            </a:r>
            <a:r>
              <a:rPr lang="en-US" sz="3800" dirty="0">
                <a:solidFill>
                  <a:srgbClr val="FF0000"/>
                </a:solidFill>
              </a:rPr>
              <a:t>Q: what type of data? Resolution?(seconds, minutes, years)?</a:t>
            </a:r>
            <a:endParaRPr lang="en-US" sz="3800" dirty="0"/>
          </a:p>
          <a:p>
            <a:pPr marL="0" indent="0">
              <a:buNone/>
            </a:pPr>
            <a:endParaRPr lang="en-US" sz="3800" dirty="0"/>
          </a:p>
          <a:p>
            <a:pPr marL="514350" indent="-514350">
              <a:buAutoNum type="arabicPeriod"/>
            </a:pPr>
            <a:r>
              <a:rPr lang="en-US" sz="3800" dirty="0"/>
              <a:t>SHP is typically derived from run-off river plants with little regulating capacity. Because the installed capacity of a single plant is very small, it is difficult to forecast its power production because of strong uncertainty and fluctuation.</a:t>
            </a:r>
          </a:p>
          <a:p>
            <a:pPr marL="514350" indent="-514350">
              <a:buAutoNum type="arabicPeriod"/>
            </a:pPr>
            <a:endParaRPr lang="en-US" sz="3800" dirty="0"/>
          </a:p>
          <a:p>
            <a:pPr marL="514350" indent="-514350">
              <a:buAutoNum type="arabicPeriod"/>
            </a:pPr>
            <a:r>
              <a:rPr lang="en-US" sz="3800" dirty="0"/>
              <a:t>The power production of SHP plants shows great spatiotemporal diversity, and thus, it is difficult to establish a commonly used model - &gt; require so much data</a:t>
            </a:r>
          </a:p>
          <a:p>
            <a:pPr marL="0" indent="0">
              <a:buNone/>
            </a:pPr>
            <a:endParaRPr lang="en-US" sz="3800" dirty="0"/>
          </a:p>
          <a:p>
            <a:pPr marL="514350" indent="-514350">
              <a:buAutoNum type="arabicPeriod"/>
            </a:pPr>
            <a:r>
              <a:rPr lang="en-US" sz="3800" dirty="0"/>
              <a:t>Because SHP is widely distributed and large in quantity, building forecasting models for all SHP plants is unnecessary and cannot satisfy the demand of precision. - &gt; different data fro each model requires too much work.</a:t>
            </a:r>
            <a:endParaRPr lang="de-DE" sz="3800" dirty="0"/>
          </a:p>
          <a:p>
            <a:endParaRPr lang="de-DE" dirty="0"/>
          </a:p>
          <a:p>
            <a:endParaRPr lang="de-DE" dirty="0"/>
          </a:p>
          <a:p>
            <a:endParaRPr lang="de-DE" dirty="0"/>
          </a:p>
        </p:txBody>
      </p:sp>
    </p:spTree>
    <p:extLst>
      <p:ext uri="{BB962C8B-B14F-4D97-AF65-F5344CB8AC3E}">
        <p14:creationId xmlns:p14="http://schemas.microsoft.com/office/powerpoint/2010/main" val="1377574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2397"/>
          </a:xfrm>
        </p:spPr>
        <p:txBody>
          <a:bodyPr>
            <a:normAutofit fontScale="90000"/>
          </a:bodyPr>
          <a:lstStyle/>
          <a:p>
            <a:r>
              <a:rPr lang="en-US" dirty="0"/>
              <a:t>Randomness of a Single Plant</a:t>
            </a:r>
            <a:r>
              <a:rPr lang="de-DE" dirty="0"/>
              <a:t/>
            </a:r>
            <a:br>
              <a:rPr lang="de-DE" dirty="0"/>
            </a:br>
            <a:endParaRPr lang="de-DE" dirty="0"/>
          </a:p>
        </p:txBody>
      </p:sp>
      <p:sp>
        <p:nvSpPr>
          <p:cNvPr id="3" name="Content Placeholder 2"/>
          <p:cNvSpPr>
            <a:spLocks noGrp="1"/>
          </p:cNvSpPr>
          <p:nvPr>
            <p:ph idx="1"/>
          </p:nvPr>
        </p:nvSpPr>
        <p:spPr>
          <a:xfrm>
            <a:off x="103695" y="810705"/>
            <a:ext cx="11943761" cy="5910606"/>
          </a:xfrm>
        </p:spPr>
        <p:txBody>
          <a:bodyPr/>
          <a:lstStyle/>
          <a:p>
            <a:pPr lvl="0"/>
            <a:r>
              <a:rPr lang="en-US" dirty="0"/>
              <a:t>Influenced by rainfall and it is difficult to achieve stable regularity of power production</a:t>
            </a:r>
          </a:p>
          <a:p>
            <a:r>
              <a:rPr lang="en-US" dirty="0"/>
              <a:t>more outliers, stronger randomness and greater fluctuation</a:t>
            </a:r>
            <a:endParaRPr lang="de-DE" dirty="0"/>
          </a:p>
          <a:p>
            <a:pPr lvl="0"/>
            <a:endParaRPr lang="de-DE" dirty="0"/>
          </a:p>
          <a:p>
            <a:endParaRPr lang="de-DE" dirty="0"/>
          </a:p>
          <a:p>
            <a:endParaRPr lang="de-DE" dirty="0"/>
          </a:p>
          <a:p>
            <a:endParaRPr lang="de-DE"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39365" y="2187018"/>
            <a:ext cx="6843859" cy="4534293"/>
          </a:xfrm>
          <a:prstGeom prst="rect">
            <a:avLst/>
          </a:prstGeom>
          <a:noFill/>
          <a:ln>
            <a:noFill/>
          </a:ln>
        </p:spPr>
      </p:pic>
    </p:spTree>
    <p:extLst>
      <p:ext uri="{BB962C8B-B14F-4D97-AF65-F5344CB8AC3E}">
        <p14:creationId xmlns:p14="http://schemas.microsoft.com/office/powerpoint/2010/main" val="309925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402" y="160257"/>
            <a:ext cx="11212398" cy="810704"/>
          </a:xfrm>
        </p:spPr>
        <p:txBody>
          <a:bodyPr>
            <a:normAutofit fontScale="90000"/>
          </a:bodyPr>
          <a:lstStyle/>
          <a:p>
            <a:r>
              <a:rPr lang="en-US" dirty="0"/>
              <a:t>Spatial Differences</a:t>
            </a:r>
            <a:r>
              <a:rPr lang="de-DE" dirty="0"/>
              <a:t/>
            </a:r>
            <a:br>
              <a:rPr lang="de-DE" dirty="0"/>
            </a:br>
            <a:endParaRPr lang="de-DE" dirty="0"/>
          </a:p>
        </p:txBody>
      </p:sp>
      <p:sp>
        <p:nvSpPr>
          <p:cNvPr id="3" name="Content Placeholder 2"/>
          <p:cNvSpPr>
            <a:spLocks noGrp="1"/>
          </p:cNvSpPr>
          <p:nvPr>
            <p:ph idx="1"/>
          </p:nvPr>
        </p:nvSpPr>
        <p:spPr>
          <a:xfrm>
            <a:off x="141402" y="622168"/>
            <a:ext cx="11821212" cy="6127423"/>
          </a:xfrm>
        </p:spPr>
        <p:txBody>
          <a:bodyPr/>
          <a:lstStyle/>
          <a:p>
            <a:r>
              <a:rPr lang="en-US" dirty="0"/>
              <a:t>Each plant has different topography and landforms, the power production presents spatial differences.</a:t>
            </a:r>
          </a:p>
          <a:p>
            <a:pPr lvl="0"/>
            <a:r>
              <a:rPr lang="en-US" dirty="0"/>
              <a:t>Significant differences in rainfall and runoff formation occur because of </a:t>
            </a:r>
            <a:r>
              <a:rPr lang="en-US" dirty="0" err="1"/>
              <a:t>Wuliang</a:t>
            </a:r>
            <a:r>
              <a:rPr lang="en-US" dirty="0"/>
              <a:t> Mountain, </a:t>
            </a:r>
            <a:r>
              <a:rPr lang="en-US" dirty="0" err="1"/>
              <a:t>Ailao</a:t>
            </a:r>
            <a:r>
              <a:rPr lang="en-US" dirty="0"/>
              <a:t> Mountain and other mountains in this area</a:t>
            </a:r>
            <a:endParaRPr lang="de-DE" dirty="0"/>
          </a:p>
          <a:p>
            <a:endParaRPr lang="de-DE"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45391" y="2438421"/>
            <a:ext cx="7456307" cy="4028367"/>
          </a:xfrm>
          <a:prstGeom prst="rect">
            <a:avLst/>
          </a:prstGeom>
          <a:noFill/>
          <a:ln>
            <a:noFill/>
          </a:ln>
        </p:spPr>
      </p:pic>
    </p:spTree>
    <p:extLst>
      <p:ext uri="{BB962C8B-B14F-4D97-AF65-F5344CB8AC3E}">
        <p14:creationId xmlns:p14="http://schemas.microsoft.com/office/powerpoint/2010/main" val="1571009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63" y="160257"/>
            <a:ext cx="11155837" cy="895545"/>
          </a:xfrm>
        </p:spPr>
        <p:txBody>
          <a:bodyPr>
            <a:normAutofit fontScale="90000"/>
          </a:bodyPr>
          <a:lstStyle/>
          <a:p>
            <a:r>
              <a:rPr lang="en-US" dirty="0"/>
              <a:t>Similarity of Regions</a:t>
            </a:r>
            <a:r>
              <a:rPr lang="de-DE" dirty="0"/>
              <a:t/>
            </a:r>
            <a:br>
              <a:rPr lang="de-DE" dirty="0"/>
            </a:br>
            <a:endParaRPr lang="de-DE" dirty="0"/>
          </a:p>
        </p:txBody>
      </p:sp>
      <p:sp>
        <p:nvSpPr>
          <p:cNvPr id="3" name="Content Placeholder 2"/>
          <p:cNvSpPr>
            <a:spLocks noGrp="1"/>
          </p:cNvSpPr>
          <p:nvPr>
            <p:ph idx="1"/>
          </p:nvPr>
        </p:nvSpPr>
        <p:spPr>
          <a:xfrm>
            <a:off x="197963" y="857838"/>
            <a:ext cx="11840066" cy="5825765"/>
          </a:xfrm>
        </p:spPr>
        <p:txBody>
          <a:bodyPr/>
          <a:lstStyle/>
          <a:p>
            <a:pPr lvl="0"/>
            <a:r>
              <a:rPr lang="en-US" dirty="0"/>
              <a:t>Similarities in terms of hydrological and meteorological conditions</a:t>
            </a:r>
            <a:endParaRPr lang="de-DE" dirty="0"/>
          </a:p>
          <a:p>
            <a:pPr lvl="0"/>
            <a:r>
              <a:rPr lang="en-US" dirty="0"/>
              <a:t>Monthly power production and trend line of SHP plants in county.</a:t>
            </a:r>
            <a:endParaRPr lang="de-DE" dirty="0"/>
          </a:p>
          <a:p>
            <a:endParaRPr lang="de-DE"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46710" y="1956434"/>
            <a:ext cx="7062758" cy="4368951"/>
          </a:xfrm>
          <a:prstGeom prst="rect">
            <a:avLst/>
          </a:prstGeom>
          <a:noFill/>
          <a:ln>
            <a:noFill/>
          </a:ln>
        </p:spPr>
      </p:pic>
    </p:spTree>
    <p:extLst>
      <p:ext uri="{BB962C8B-B14F-4D97-AF65-F5344CB8AC3E}">
        <p14:creationId xmlns:p14="http://schemas.microsoft.com/office/powerpoint/2010/main" val="168733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817" y="933254"/>
            <a:ext cx="11855778" cy="4100659"/>
          </a:xfrm>
        </p:spPr>
        <p:txBody>
          <a:bodyPr>
            <a:normAutofit/>
          </a:bodyPr>
          <a:lstStyle/>
          <a:p>
            <a:r>
              <a:rPr lang="de-DE" dirty="0"/>
              <a:t>Summary / goal:</a:t>
            </a:r>
          </a:p>
          <a:p>
            <a:endParaRPr lang="de-DE" dirty="0"/>
          </a:p>
          <a:p>
            <a:pPr>
              <a:buFontTx/>
              <a:buChar char="-"/>
            </a:pPr>
            <a:r>
              <a:rPr lang="en-US" dirty="0"/>
              <a:t>LHP plants can provide long-term historical data and accurate forecast values. Thus, historical data are used as a reference for the study of forecasting long-term SHP power production. </a:t>
            </a:r>
          </a:p>
          <a:p>
            <a:pPr>
              <a:buFontTx/>
              <a:buChar char="-"/>
            </a:pPr>
            <a:endParaRPr lang="en-US" dirty="0"/>
          </a:p>
          <a:p>
            <a:pPr>
              <a:buFontTx/>
              <a:buChar char="-"/>
            </a:pPr>
            <a:r>
              <a:rPr lang="en-US" dirty="0"/>
              <a:t>Made a regression model is developed to forecast the power production of SHP through the predictive value of LHP.</a:t>
            </a:r>
          </a:p>
          <a:p>
            <a:pPr>
              <a:buFontTx/>
              <a:buChar char="-"/>
            </a:pPr>
            <a:endParaRPr lang="en-US" dirty="0"/>
          </a:p>
          <a:p>
            <a:pPr marL="0" indent="0">
              <a:buNone/>
            </a:pPr>
            <a:endParaRPr lang="en-US" dirty="0"/>
          </a:p>
          <a:p>
            <a:pPr>
              <a:buFontTx/>
              <a:buChar char="-"/>
            </a:pPr>
            <a:endParaRPr lang="en-US" dirty="0"/>
          </a:p>
          <a:p>
            <a:pPr>
              <a:buFontTx/>
              <a:buChar char="-"/>
            </a:pPr>
            <a:endParaRPr lang="en-US" dirty="0"/>
          </a:p>
          <a:p>
            <a:pPr>
              <a:buFontTx/>
              <a:buChar char="-"/>
            </a:pPr>
            <a:endParaRPr lang="de-DE" dirty="0"/>
          </a:p>
          <a:p>
            <a:pPr marL="0" indent="0">
              <a:buNone/>
            </a:pPr>
            <a:endParaRPr lang="de-DE" dirty="0"/>
          </a:p>
          <a:p>
            <a:pPr marL="0" indent="0">
              <a:buNone/>
            </a:pPr>
            <a:endParaRPr lang="de-DE" dirty="0"/>
          </a:p>
          <a:p>
            <a:pPr marL="0" indent="0">
              <a:buNone/>
            </a:pPr>
            <a:endParaRPr lang="de-DE" dirty="0"/>
          </a:p>
        </p:txBody>
      </p:sp>
      <p:sp>
        <p:nvSpPr>
          <p:cNvPr id="4" name="Title 1"/>
          <p:cNvSpPr>
            <a:spLocks noGrp="1"/>
          </p:cNvSpPr>
          <p:nvPr>
            <p:ph type="title"/>
          </p:nvPr>
        </p:nvSpPr>
        <p:spPr>
          <a:xfrm>
            <a:off x="119406" y="565609"/>
            <a:ext cx="11953188" cy="367645"/>
          </a:xfrm>
        </p:spPr>
        <p:txBody>
          <a:bodyPr>
            <a:normAutofit fontScale="90000"/>
          </a:bodyPr>
          <a:lstStyle/>
          <a:p>
            <a:r>
              <a:rPr lang="en-US" sz="3600" dirty="0"/>
              <a:t>Continue</a:t>
            </a:r>
            <a:br>
              <a:rPr lang="en-US" sz="3600" dirty="0"/>
            </a:br>
            <a:r>
              <a:rPr lang="en-US" b="1" i="1" dirty="0"/>
              <a:t/>
            </a:r>
            <a:br>
              <a:rPr lang="en-US" b="1" i="1" dirty="0"/>
            </a:br>
            <a:endParaRPr lang="de-DE" dirty="0"/>
          </a:p>
        </p:txBody>
      </p:sp>
    </p:spTree>
    <p:extLst>
      <p:ext uri="{BB962C8B-B14F-4D97-AF65-F5344CB8AC3E}">
        <p14:creationId xmlns:p14="http://schemas.microsoft.com/office/powerpoint/2010/main" val="168491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75415"/>
            <a:ext cx="11934334" cy="1187777"/>
          </a:xfrm>
        </p:spPr>
        <p:txBody>
          <a:bodyPr>
            <a:normAutofit/>
          </a:bodyPr>
          <a:lstStyle/>
          <a:p>
            <a:r>
              <a:rPr lang="de-DE" sz="3600" dirty="0"/>
              <a:t>Step to make a correlation</a:t>
            </a:r>
          </a:p>
        </p:txBody>
      </p:sp>
      <p:sp>
        <p:nvSpPr>
          <p:cNvPr id="3" name="Content Placeholder 2"/>
          <p:cNvSpPr>
            <a:spLocks noGrp="1"/>
          </p:cNvSpPr>
          <p:nvPr>
            <p:ph idx="1"/>
          </p:nvPr>
        </p:nvSpPr>
        <p:spPr>
          <a:xfrm>
            <a:off x="207390" y="1065228"/>
            <a:ext cx="11726944" cy="5618375"/>
          </a:xfrm>
        </p:spPr>
        <p:txBody>
          <a:bodyPr/>
          <a:lstStyle/>
          <a:p>
            <a:pPr marL="514350" indent="-514350">
              <a:buAutoNum type="arabicPeriod"/>
            </a:pPr>
            <a:r>
              <a:rPr lang="en-US" dirty="0"/>
              <a:t>SHP plants are considered to belong to the same area as a whole</a:t>
            </a:r>
          </a:p>
          <a:p>
            <a:pPr marL="514350" indent="-514350">
              <a:buAutoNum type="arabicPeriod"/>
            </a:pPr>
            <a:r>
              <a:rPr lang="en-US" dirty="0"/>
              <a:t>Interval flow of the LHP plant is screened as the correlation factor.</a:t>
            </a:r>
          </a:p>
          <a:p>
            <a:pPr marL="514350" indent="-514350">
              <a:buAutoNum type="arabicPeriod"/>
            </a:pPr>
            <a:r>
              <a:rPr lang="en-US" dirty="0"/>
              <a:t>correlation analysis of LHP and SHP is performed, and the significance of the correlation is tested. </a:t>
            </a:r>
          </a:p>
          <a:p>
            <a:pPr marL="514350" indent="-514350">
              <a:buAutoNum type="arabicPeriod"/>
            </a:pPr>
            <a:r>
              <a:rPr lang="en-US" dirty="0"/>
              <a:t>a regression model is developed to forecast the power production of SHP through the predictive value of LHP.</a:t>
            </a:r>
          </a:p>
          <a:p>
            <a:pPr marL="514350" indent="-514350">
              <a:buAutoNum type="arabicPeriod"/>
            </a:pPr>
            <a:endParaRPr lang="de-DE" dirty="0"/>
          </a:p>
          <a:p>
            <a:pPr marL="514350" indent="-514350">
              <a:buAutoNum type="arabicPeriod"/>
            </a:pPr>
            <a:endParaRPr lang="de-DE" dirty="0"/>
          </a:p>
          <a:p>
            <a:pPr marL="0" indent="0">
              <a:buNone/>
            </a:pPr>
            <a:r>
              <a:rPr lang="en-US" dirty="0"/>
              <a:t>* stronger correlation between power production of SHP plants and the interval flow of the LHP plant through the </a:t>
            </a:r>
            <a:r>
              <a:rPr lang="en-US" dirty="0">
                <a:solidFill>
                  <a:srgbClr val="FF0000"/>
                </a:solidFill>
              </a:rPr>
              <a:t>numerical simulation analysis</a:t>
            </a:r>
            <a:r>
              <a:rPr lang="en-US" dirty="0"/>
              <a:t>. -&gt; Things to learn or get some helps</a:t>
            </a:r>
            <a:endParaRPr lang="de-DE" dirty="0"/>
          </a:p>
        </p:txBody>
      </p:sp>
    </p:spTree>
    <p:extLst>
      <p:ext uri="{BB962C8B-B14F-4D97-AF65-F5344CB8AC3E}">
        <p14:creationId xmlns:p14="http://schemas.microsoft.com/office/powerpoint/2010/main" val="1854017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682" y="84841"/>
            <a:ext cx="11906054" cy="6608190"/>
          </a:xfrm>
        </p:spPr>
        <p:txBody>
          <a:bodyPr/>
          <a:lstStyle/>
          <a:p>
            <a:pPr latinLnBrk="1"/>
            <a:r>
              <a:rPr lang="en-US" dirty="0"/>
              <a:t>The geographical and hydrological conditions of SHP plants are similar to that   of LHP plant in the same region or neighborhood. </a:t>
            </a:r>
          </a:p>
          <a:p>
            <a:pPr latinLnBrk="1"/>
            <a:endParaRPr lang="en-US" dirty="0"/>
          </a:p>
          <a:p>
            <a:pPr latinLnBrk="1"/>
            <a:endParaRPr lang="en-US" dirty="0"/>
          </a:p>
          <a:p>
            <a:pPr latinLnBrk="1"/>
            <a:endParaRPr lang="de-DE" dirty="0"/>
          </a:p>
          <a:p>
            <a:pPr latinLnBrk="1"/>
            <a:r>
              <a:rPr lang="en-US" dirty="0"/>
              <a:t>Interval flow of a set of candidate factors of LHP plants can reflect the runoff in the region where SHP plants are located, and there must be some </a:t>
            </a:r>
            <a:r>
              <a:rPr lang="en-US" dirty="0" err="1"/>
              <a:t>correlationship</a:t>
            </a:r>
            <a:r>
              <a:rPr lang="en-US" dirty="0"/>
              <a:t> between the interval flow of LHP plants and the power production of SHP plants in the same region. Then the correlativity of LHP and SHP in the region can be established.</a:t>
            </a:r>
            <a:endParaRPr lang="de-DE" dirty="0"/>
          </a:p>
          <a:p>
            <a:endParaRPr lang="de-DE" dirty="0"/>
          </a:p>
        </p:txBody>
      </p:sp>
    </p:spTree>
    <p:extLst>
      <p:ext uri="{BB962C8B-B14F-4D97-AF65-F5344CB8AC3E}">
        <p14:creationId xmlns:p14="http://schemas.microsoft.com/office/powerpoint/2010/main" val="2111671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816" y="195442"/>
            <a:ext cx="10515600" cy="803799"/>
          </a:xfrm>
        </p:spPr>
        <p:txBody>
          <a:bodyPr/>
          <a:lstStyle/>
          <a:p>
            <a:r>
              <a:rPr lang="de-DE" dirty="0"/>
              <a:t>Case study </a:t>
            </a:r>
            <a:r>
              <a:rPr lang="en-US" dirty="0"/>
              <a:t>in a district in China</a:t>
            </a:r>
            <a:endParaRPr lang="de-DE"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80289" y="901211"/>
            <a:ext cx="5777320" cy="5810674"/>
          </a:xfrm>
          <a:prstGeom prst="rect">
            <a:avLst/>
          </a:prstGeom>
          <a:noFill/>
          <a:ln>
            <a:noFill/>
          </a:ln>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216816" y="999241"/>
            <a:ext cx="5750351" cy="5561814"/>
          </a:xfrm>
          <a:prstGeom prst="rect">
            <a:avLst/>
          </a:prstGeom>
          <a:noFill/>
          <a:ln>
            <a:noFill/>
          </a:ln>
        </p:spPr>
      </p:pic>
    </p:spTree>
    <p:extLst>
      <p:ext uri="{BB962C8B-B14F-4D97-AF65-F5344CB8AC3E}">
        <p14:creationId xmlns:p14="http://schemas.microsoft.com/office/powerpoint/2010/main" val="1221368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16816" y="575035"/>
            <a:ext cx="11387580" cy="55712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atinLnBrk="1"/>
            <a:r>
              <a:rPr lang="en-US" sz="6500" dirty="0"/>
              <a:t>Conclusion: </a:t>
            </a:r>
          </a:p>
          <a:p>
            <a:pPr latinLnBrk="1"/>
            <a:endParaRPr lang="de-DE" dirty="0"/>
          </a:p>
          <a:p>
            <a:pPr latinLnBrk="1"/>
            <a:r>
              <a:rPr lang="en-US" dirty="0"/>
              <a:t> </a:t>
            </a:r>
            <a:endParaRPr lang="de-DE" dirty="0"/>
          </a:p>
          <a:p>
            <a:pPr latinLnBrk="1"/>
            <a:r>
              <a:rPr lang="en-US" dirty="0"/>
              <a:t>Power production of SHP plants shows significant correlation with the LHP plant of the same districts, whereas the correlation with the LHP plant in other districts is not significant.</a:t>
            </a:r>
            <a:endParaRPr lang="de-DE" dirty="0"/>
          </a:p>
          <a:p>
            <a:pPr latinLnBrk="1"/>
            <a:r>
              <a:rPr lang="en-US" dirty="0"/>
              <a:t> </a:t>
            </a:r>
            <a:endParaRPr lang="de-DE" dirty="0"/>
          </a:p>
          <a:p>
            <a:endParaRPr lang="de-DE" dirty="0"/>
          </a:p>
        </p:txBody>
      </p:sp>
    </p:spTree>
    <p:extLst>
      <p:ext uri="{BB962C8B-B14F-4D97-AF65-F5344CB8AC3E}">
        <p14:creationId xmlns:p14="http://schemas.microsoft.com/office/powerpoint/2010/main" val="278163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84841"/>
            <a:ext cx="11231252" cy="575035"/>
          </a:xfrm>
        </p:spPr>
        <p:txBody>
          <a:bodyPr>
            <a:normAutofit fontScale="90000"/>
          </a:bodyPr>
          <a:lstStyle/>
          <a:p>
            <a:r>
              <a:rPr lang="de-DE" dirty="0"/>
              <a:t>Challenges</a:t>
            </a:r>
          </a:p>
        </p:txBody>
      </p:sp>
      <p:sp>
        <p:nvSpPr>
          <p:cNvPr id="3" name="Content Placeholder 2"/>
          <p:cNvSpPr>
            <a:spLocks noGrp="1"/>
          </p:cNvSpPr>
          <p:nvPr>
            <p:ph idx="1"/>
          </p:nvPr>
        </p:nvSpPr>
        <p:spPr>
          <a:xfrm>
            <a:off x="122548" y="2187019"/>
            <a:ext cx="11906054" cy="4477732"/>
          </a:xfrm>
        </p:spPr>
        <p:txBody>
          <a:bodyPr/>
          <a:lstStyle/>
          <a:p>
            <a:r>
              <a:rPr lang="de-DE" dirty="0"/>
              <a:t>This method worked to forecast for SHP power generation given the data for LHP. However, in Mexico, most of them are LHP and we do not need to predict for SHP. </a:t>
            </a:r>
          </a:p>
          <a:p>
            <a:pPr marL="0" indent="0">
              <a:buNone/>
            </a:pPr>
            <a:r>
              <a:rPr lang="de-DE" dirty="0"/>
              <a:t>	So, we need to confirm whether this method is working to forecast LHP as well.</a:t>
            </a:r>
          </a:p>
          <a:p>
            <a:endParaRPr lang="de-DE" dirty="0"/>
          </a:p>
        </p:txBody>
      </p:sp>
    </p:spTree>
    <p:extLst>
      <p:ext uri="{BB962C8B-B14F-4D97-AF65-F5344CB8AC3E}">
        <p14:creationId xmlns:p14="http://schemas.microsoft.com/office/powerpoint/2010/main" val="3722191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2714"/>
          </a:xfrm>
        </p:spPr>
        <p:txBody>
          <a:bodyPr>
            <a:normAutofit fontScale="90000"/>
          </a:bodyPr>
          <a:lstStyle/>
          <a:p>
            <a:r>
              <a:rPr lang="de-DE" dirty="0"/>
              <a:t>Benefit</a:t>
            </a:r>
          </a:p>
        </p:txBody>
      </p:sp>
      <p:sp>
        <p:nvSpPr>
          <p:cNvPr id="3" name="Content Placeholder 2"/>
          <p:cNvSpPr>
            <a:spLocks noGrp="1"/>
          </p:cNvSpPr>
          <p:nvPr>
            <p:ph idx="1"/>
          </p:nvPr>
        </p:nvSpPr>
        <p:spPr>
          <a:xfrm>
            <a:off x="292231" y="1027522"/>
            <a:ext cx="11632676" cy="5552387"/>
          </a:xfrm>
        </p:spPr>
        <p:txBody>
          <a:bodyPr>
            <a:normAutofit fontScale="92500" lnSpcReduction="20000"/>
          </a:bodyPr>
          <a:lstStyle/>
          <a:p>
            <a:pPr marL="0" indent="0">
              <a:buNone/>
            </a:pPr>
            <a:r>
              <a:rPr lang="en-US" dirty="0"/>
              <a:t>1. Great significance for realizing the coordination with LHP plants, solving the problem of the waste water and abandoned electricity and ensuring the safe operation of the power grid.</a:t>
            </a:r>
          </a:p>
          <a:p>
            <a:pPr marL="0" indent="0">
              <a:buNone/>
            </a:pPr>
            <a:endParaRPr lang="en-US" dirty="0"/>
          </a:p>
          <a:p>
            <a:pPr marL="0" indent="0">
              <a:buNone/>
            </a:pPr>
            <a:r>
              <a:rPr lang="en-US" dirty="0"/>
              <a:t>2. This method could achieve an accurate result, even during the flood season, which can provide the reliable forecasted data for arranging the coordinate power generation schedule between SHP plants and LHP plants.</a:t>
            </a:r>
          </a:p>
          <a:p>
            <a:pPr marL="0" indent="0">
              <a:buNone/>
            </a:pPr>
            <a:endParaRPr lang="en-US" dirty="0"/>
          </a:p>
          <a:p>
            <a:pPr marL="0" indent="0">
              <a:buNone/>
            </a:pPr>
            <a:r>
              <a:rPr lang="en-US" dirty="0"/>
              <a:t>3. Not much data is required. -&gt; 1) only spatiotemporal characteristics, 2) the correlation between the power production of SHP plants and the interval </a:t>
            </a:r>
            <a:r>
              <a:rPr lang="de-DE" dirty="0"/>
              <a:t>inflow of LHP plants, 3) correlation characteristics in space</a:t>
            </a:r>
            <a:endParaRPr lang="en-US" dirty="0"/>
          </a:p>
          <a:p>
            <a:pPr marL="0" indent="0">
              <a:buNone/>
            </a:pPr>
            <a:endParaRPr lang="en-US" dirty="0"/>
          </a:p>
          <a:p>
            <a:pPr marL="0" indent="0">
              <a:buNone/>
            </a:pPr>
            <a:r>
              <a:rPr lang="en-US" dirty="0"/>
              <a:t>4. Generality of the correlation analysis method is demonstrated.</a:t>
            </a:r>
          </a:p>
          <a:p>
            <a:pPr marL="0" indent="0">
              <a:buNone/>
            </a:pPr>
            <a:endParaRPr lang="en-US" dirty="0"/>
          </a:p>
          <a:p>
            <a:pPr marL="0" indent="0">
              <a:buNone/>
            </a:pPr>
            <a:r>
              <a:rPr lang="en-US" dirty="0"/>
              <a:t>5. Finally, </a:t>
            </a:r>
            <a:r>
              <a:rPr lang="de-DE" dirty="0"/>
              <a:t>prediction accuracy of this method has been verified</a:t>
            </a:r>
          </a:p>
        </p:txBody>
      </p:sp>
    </p:spTree>
    <p:extLst>
      <p:ext uri="{BB962C8B-B14F-4D97-AF65-F5344CB8AC3E}">
        <p14:creationId xmlns:p14="http://schemas.microsoft.com/office/powerpoint/2010/main" val="1977066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678" y="1718037"/>
            <a:ext cx="11808643" cy="5139963"/>
          </a:xfrm>
        </p:spPr>
        <p:txBody>
          <a:bodyPr>
            <a:normAutofit/>
          </a:bodyPr>
          <a:lstStyle/>
          <a:p>
            <a:r>
              <a:rPr lang="de-DE" dirty="0"/>
              <a:t>Summary / goal:</a:t>
            </a:r>
          </a:p>
          <a:p>
            <a:pPr>
              <a:buFontTx/>
              <a:buChar char="-"/>
            </a:pPr>
            <a:r>
              <a:rPr lang="en-US" dirty="0"/>
              <a:t>The basic idea for this method came from that climate change impacts on selected hydropower plants.</a:t>
            </a:r>
          </a:p>
          <a:p>
            <a:pPr>
              <a:buFontTx/>
              <a:buChar char="-"/>
            </a:pPr>
            <a:endParaRPr lang="en-US" dirty="0"/>
          </a:p>
          <a:p>
            <a:pPr>
              <a:buFontTx/>
              <a:buChar char="-"/>
            </a:pPr>
            <a:r>
              <a:rPr lang="en-US" dirty="0"/>
              <a:t>Motivated by the high correlation between Water runoff and hydropower generation, they conducted a series of</a:t>
            </a:r>
            <a:r>
              <a:rPr lang="de-DE" dirty="0"/>
              <a:t> </a:t>
            </a:r>
            <a:r>
              <a:rPr lang="en-US" dirty="0"/>
              <a:t>regression analyses based on the annual time series of</a:t>
            </a:r>
            <a:r>
              <a:rPr lang="de-DE" dirty="0"/>
              <a:t> </a:t>
            </a:r>
            <a:r>
              <a:rPr lang="en-US" dirty="0"/>
              <a:t>temperature, precipitation, runoff, and hydropower</a:t>
            </a:r>
            <a:r>
              <a:rPr lang="de-DE" dirty="0"/>
              <a:t> </a:t>
            </a:r>
            <a:r>
              <a:rPr lang="en-US" dirty="0"/>
              <a:t>generation for each of the study areas.</a:t>
            </a:r>
          </a:p>
          <a:p>
            <a:pPr>
              <a:buFontTx/>
              <a:buChar char="-"/>
            </a:pPr>
            <a:endParaRPr lang="en-US" dirty="0"/>
          </a:p>
          <a:p>
            <a:pPr>
              <a:buFontTx/>
              <a:buChar char="-"/>
            </a:pPr>
            <a:endParaRPr lang="en-US" dirty="0"/>
          </a:p>
          <a:p>
            <a:pPr>
              <a:buFontTx/>
              <a:buChar char="-"/>
            </a:pPr>
            <a:endParaRPr lang="en-US" dirty="0"/>
          </a:p>
          <a:p>
            <a:pPr marL="0" indent="0">
              <a:buNone/>
            </a:pPr>
            <a:endParaRPr lang="de-DE" dirty="0"/>
          </a:p>
          <a:p>
            <a:pPr marL="0" indent="0">
              <a:buNone/>
            </a:pPr>
            <a:endParaRPr lang="de-DE" dirty="0"/>
          </a:p>
          <a:p>
            <a:pPr marL="0" indent="0">
              <a:buNone/>
            </a:pPr>
            <a:endParaRPr lang="de-DE" dirty="0"/>
          </a:p>
        </p:txBody>
      </p:sp>
      <p:sp>
        <p:nvSpPr>
          <p:cNvPr id="4" name="Title 1"/>
          <p:cNvSpPr>
            <a:spLocks noGrp="1"/>
          </p:cNvSpPr>
          <p:nvPr>
            <p:ph type="title"/>
          </p:nvPr>
        </p:nvSpPr>
        <p:spPr>
          <a:xfrm>
            <a:off x="191678" y="1430518"/>
            <a:ext cx="11953188" cy="96624"/>
          </a:xfrm>
        </p:spPr>
        <p:txBody>
          <a:bodyPr>
            <a:normAutofit fontScale="90000"/>
          </a:bodyPr>
          <a:lstStyle/>
          <a:p>
            <a:r>
              <a:rPr lang="en-US" sz="3600" dirty="0"/>
              <a:t>3. Projecting changes in annual hydropower generation using regional</a:t>
            </a:r>
            <a:r>
              <a:rPr lang="de-DE" sz="3600" dirty="0"/>
              <a:t> </a:t>
            </a:r>
            <a:r>
              <a:rPr lang="en-US" sz="3600" dirty="0"/>
              <a:t>runoff data</a:t>
            </a:r>
            <a:br>
              <a:rPr lang="en-US" sz="3600" dirty="0"/>
            </a:br>
            <a:r>
              <a:rPr lang="en-US" sz="3600" dirty="0"/>
              <a:t/>
            </a:r>
            <a:br>
              <a:rPr lang="en-US" sz="3600" dirty="0"/>
            </a:br>
            <a:r>
              <a:rPr lang="en-US" b="1" i="1" dirty="0"/>
              <a:t/>
            </a:r>
            <a:br>
              <a:rPr lang="en-US" b="1" i="1" dirty="0"/>
            </a:br>
            <a:endParaRPr lang="de-DE" dirty="0"/>
          </a:p>
        </p:txBody>
      </p:sp>
    </p:spTree>
    <p:extLst>
      <p:ext uri="{BB962C8B-B14F-4D97-AF65-F5344CB8AC3E}">
        <p14:creationId xmlns:p14="http://schemas.microsoft.com/office/powerpoint/2010/main" val="489183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84841"/>
            <a:ext cx="11231252" cy="575035"/>
          </a:xfrm>
        </p:spPr>
        <p:txBody>
          <a:bodyPr>
            <a:normAutofit fontScale="90000"/>
          </a:bodyPr>
          <a:lstStyle/>
          <a:p>
            <a:r>
              <a:rPr lang="de-DE" dirty="0"/>
              <a:t>Challenges</a:t>
            </a:r>
          </a:p>
        </p:txBody>
      </p:sp>
      <p:sp>
        <p:nvSpPr>
          <p:cNvPr id="3" name="Content Placeholder 2"/>
          <p:cNvSpPr>
            <a:spLocks noGrp="1"/>
          </p:cNvSpPr>
          <p:nvPr>
            <p:ph idx="1"/>
          </p:nvPr>
        </p:nvSpPr>
        <p:spPr>
          <a:xfrm>
            <a:off x="122548" y="2187019"/>
            <a:ext cx="11906054" cy="4477732"/>
          </a:xfrm>
        </p:spPr>
        <p:txBody>
          <a:bodyPr/>
          <a:lstStyle/>
          <a:p>
            <a:pPr>
              <a:buFontTx/>
              <a:buChar char="-"/>
            </a:pPr>
            <a:r>
              <a:rPr lang="en-US" dirty="0"/>
              <a:t>This generalized approach works for US federal hydropower plants</a:t>
            </a:r>
            <a:r>
              <a:rPr lang="de-DE" dirty="0"/>
              <a:t> </a:t>
            </a:r>
            <a:r>
              <a:rPr lang="en-US" dirty="0"/>
              <a:t>because their total installed power capacity has not changed</a:t>
            </a:r>
            <a:r>
              <a:rPr lang="de-DE" dirty="0"/>
              <a:t> </a:t>
            </a:r>
            <a:r>
              <a:rPr lang="en-US" dirty="0"/>
              <a:t>significantly during the past 20 years. (Mexico might be different)</a:t>
            </a:r>
          </a:p>
          <a:p>
            <a:pPr>
              <a:buFontTx/>
              <a:buChar char="-"/>
            </a:pPr>
            <a:endParaRPr lang="en-US" dirty="0"/>
          </a:p>
          <a:p>
            <a:pPr>
              <a:buFontTx/>
              <a:buChar char="-"/>
            </a:pPr>
            <a:r>
              <a:rPr lang="en-US" dirty="0"/>
              <a:t>This linear relationship, while working properly between annual runoff and generation, cannot be</a:t>
            </a:r>
            <a:r>
              <a:rPr lang="de-DE" dirty="0"/>
              <a:t> </a:t>
            </a:r>
            <a:r>
              <a:rPr lang="en-US" dirty="0"/>
              <a:t>extended to seasonal or monthly scales.</a:t>
            </a:r>
          </a:p>
          <a:p>
            <a:pPr>
              <a:buFontTx/>
              <a:buChar char="-"/>
            </a:pPr>
            <a:endParaRPr lang="en-US" dirty="0"/>
          </a:p>
          <a:p>
            <a:pPr>
              <a:buFontTx/>
              <a:buChar char="-"/>
            </a:pPr>
            <a:r>
              <a:rPr lang="en-US" dirty="0"/>
              <a:t>This method works for SHP prediction.</a:t>
            </a:r>
          </a:p>
          <a:p>
            <a:pPr>
              <a:buFontTx/>
              <a:buChar char="-"/>
            </a:pPr>
            <a:endParaRPr lang="en-US" dirty="0"/>
          </a:p>
          <a:p>
            <a:pPr>
              <a:buFontTx/>
              <a:buChar char="-"/>
            </a:pPr>
            <a:endParaRPr lang="en-US" dirty="0"/>
          </a:p>
          <a:p>
            <a:endParaRPr lang="de-DE" dirty="0"/>
          </a:p>
          <a:p>
            <a:endParaRPr lang="de-DE" dirty="0"/>
          </a:p>
        </p:txBody>
      </p:sp>
    </p:spTree>
    <p:extLst>
      <p:ext uri="{BB962C8B-B14F-4D97-AF65-F5344CB8AC3E}">
        <p14:creationId xmlns:p14="http://schemas.microsoft.com/office/powerpoint/2010/main" val="206878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951" y="1272619"/>
            <a:ext cx="11808643" cy="5458119"/>
          </a:xfrm>
        </p:spPr>
        <p:txBody>
          <a:bodyPr>
            <a:normAutofit fontScale="85000" lnSpcReduction="20000"/>
          </a:bodyPr>
          <a:lstStyle/>
          <a:p>
            <a:r>
              <a:rPr lang="de-DE" dirty="0"/>
              <a:t>Summary / goal:</a:t>
            </a:r>
          </a:p>
          <a:p>
            <a:pPr>
              <a:buFontTx/>
              <a:buChar char="-"/>
            </a:pPr>
            <a:r>
              <a:rPr lang="en-US" dirty="0"/>
              <a:t>This method was suggested from the fact that reservoir operation and management is usually patterned after the background of long standing</a:t>
            </a:r>
            <a:r>
              <a:rPr lang="de-DE" dirty="0"/>
              <a:t> </a:t>
            </a:r>
            <a:r>
              <a:rPr lang="en-US" dirty="0"/>
              <a:t>water resources management experience.</a:t>
            </a:r>
          </a:p>
          <a:p>
            <a:pPr>
              <a:buFontTx/>
              <a:buChar char="-"/>
            </a:pPr>
            <a:endParaRPr lang="en-US" dirty="0"/>
          </a:p>
          <a:p>
            <a:pPr>
              <a:buFontTx/>
              <a:buChar char="-"/>
            </a:pPr>
            <a:r>
              <a:rPr lang="en-US" dirty="0"/>
              <a:t>Records of rainfall-runoff relations for the study area suggests some level of variability in runoff due to rainfall variability; a condition which may impact on reservoir water balance</a:t>
            </a:r>
            <a:endParaRPr lang="de-DE" dirty="0"/>
          </a:p>
          <a:p>
            <a:pPr>
              <a:buFontTx/>
              <a:buChar char="-"/>
            </a:pPr>
            <a:endParaRPr lang="en-US" dirty="0"/>
          </a:p>
          <a:p>
            <a:pPr>
              <a:buFontTx/>
              <a:buChar char="-"/>
            </a:pPr>
            <a:r>
              <a:rPr lang="en-US" dirty="0"/>
              <a:t>The objective is to develop functional hydrological relationship between (rainfall, inflow, reservoir storage and turbine releases) over the dam. This will provide scientific basis for operational decisions which can lead to optimum power plant utilization.</a:t>
            </a:r>
          </a:p>
          <a:p>
            <a:pPr>
              <a:buFontTx/>
              <a:buChar char="-"/>
            </a:pPr>
            <a:endParaRPr lang="en-US" dirty="0"/>
          </a:p>
          <a:p>
            <a:pPr>
              <a:buFontTx/>
              <a:buChar char="-"/>
            </a:pPr>
            <a:r>
              <a:rPr lang="en-US" dirty="0"/>
              <a:t>Correlation coefficients of the main meteorological variable (rainfall) on hydrologic and</a:t>
            </a:r>
            <a:r>
              <a:rPr lang="de-DE" dirty="0"/>
              <a:t> </a:t>
            </a:r>
            <a:r>
              <a:rPr lang="en-US" dirty="0"/>
              <a:t>reservoir variables were computed to determine the strength of the relationship between the</a:t>
            </a:r>
            <a:r>
              <a:rPr lang="de-DE" dirty="0"/>
              <a:t> </a:t>
            </a:r>
            <a:r>
              <a:rPr lang="en-US" dirty="0"/>
              <a:t>variables. These variables are: rainfall, reservoir inflow, reservoir storage and turbine release.</a:t>
            </a:r>
            <a:endParaRPr lang="de-DE" dirty="0"/>
          </a:p>
          <a:p>
            <a:pPr>
              <a:buFontTx/>
              <a:buChar char="-"/>
            </a:pPr>
            <a:endParaRPr lang="de-DE" dirty="0"/>
          </a:p>
          <a:p>
            <a:pPr>
              <a:buFontTx/>
              <a:buChar char="-"/>
            </a:pPr>
            <a:endParaRPr lang="en-US" dirty="0"/>
          </a:p>
          <a:p>
            <a:pPr>
              <a:buFontTx/>
              <a:buChar char="-"/>
            </a:pPr>
            <a:endParaRPr lang="en-US" dirty="0"/>
          </a:p>
          <a:p>
            <a:pPr>
              <a:buFontTx/>
              <a:buChar char="-"/>
            </a:pPr>
            <a:endParaRPr lang="en-US" dirty="0"/>
          </a:p>
          <a:p>
            <a:pPr>
              <a:buFontTx/>
              <a:buChar char="-"/>
            </a:pPr>
            <a:endParaRPr lang="en-US" dirty="0"/>
          </a:p>
          <a:p>
            <a:pPr>
              <a:buFontTx/>
              <a:buChar char="-"/>
            </a:pPr>
            <a:endParaRPr lang="en-US" dirty="0"/>
          </a:p>
          <a:p>
            <a:pPr marL="0" indent="0">
              <a:buNone/>
            </a:pPr>
            <a:endParaRPr lang="de-DE" dirty="0"/>
          </a:p>
          <a:p>
            <a:pPr marL="0" indent="0">
              <a:buNone/>
            </a:pPr>
            <a:endParaRPr lang="de-DE" dirty="0"/>
          </a:p>
          <a:p>
            <a:pPr marL="0" indent="0">
              <a:buNone/>
            </a:pPr>
            <a:endParaRPr lang="de-DE" dirty="0"/>
          </a:p>
        </p:txBody>
      </p:sp>
      <p:sp>
        <p:nvSpPr>
          <p:cNvPr id="4" name="Title 1"/>
          <p:cNvSpPr>
            <a:spLocks noGrp="1"/>
          </p:cNvSpPr>
          <p:nvPr>
            <p:ph type="title"/>
          </p:nvPr>
        </p:nvSpPr>
        <p:spPr>
          <a:xfrm>
            <a:off x="119406" y="1439945"/>
            <a:ext cx="11953188" cy="96624"/>
          </a:xfrm>
        </p:spPr>
        <p:txBody>
          <a:bodyPr>
            <a:normAutofit fontScale="90000"/>
          </a:bodyPr>
          <a:lstStyle/>
          <a:p>
            <a:r>
              <a:rPr lang="en-US" sz="3100" dirty="0"/>
              <a:t>4. </a:t>
            </a:r>
            <a:r>
              <a:rPr lang="en-US" sz="3100" dirty="0">
                <a:latin typeface="Calibri Light (Headings)"/>
              </a:rPr>
              <a:t>The Role of Rainfall Variability in Reservoir Storage Management at </a:t>
            </a:r>
            <a:r>
              <a:rPr lang="de-DE" sz="3100" dirty="0">
                <a:latin typeface="Calibri Light (Headings)"/>
              </a:rPr>
              <a:t>Hydropower Dam</a:t>
            </a:r>
            <a:r>
              <a:rPr lang="en-US" sz="3600" dirty="0"/>
              <a:t/>
            </a:r>
            <a:br>
              <a:rPr lang="en-US" sz="3600" dirty="0"/>
            </a:br>
            <a:r>
              <a:rPr lang="en-US" sz="3600" dirty="0"/>
              <a:t/>
            </a:r>
            <a:br>
              <a:rPr lang="en-US" sz="3600" dirty="0"/>
            </a:br>
            <a:r>
              <a:rPr lang="en-US" sz="3600" dirty="0"/>
              <a:t/>
            </a:r>
            <a:br>
              <a:rPr lang="en-US" sz="3600" dirty="0"/>
            </a:br>
            <a:r>
              <a:rPr lang="en-US" b="1" i="1" dirty="0"/>
              <a:t/>
            </a:r>
            <a:br>
              <a:rPr lang="en-US" b="1" i="1" dirty="0"/>
            </a:br>
            <a:endParaRPr lang="de-DE" dirty="0"/>
          </a:p>
        </p:txBody>
      </p:sp>
    </p:spTree>
    <p:extLst>
      <p:ext uri="{BB962C8B-B14F-4D97-AF65-F5344CB8AC3E}">
        <p14:creationId xmlns:p14="http://schemas.microsoft.com/office/powerpoint/2010/main" val="1003030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547" y="179109"/>
            <a:ext cx="11915481" cy="6513922"/>
          </a:xfrm>
        </p:spPr>
        <p:txBody>
          <a:bodyPr/>
          <a:lstStyle/>
          <a:p>
            <a:pPr marL="0" indent="0">
              <a:buNone/>
            </a:pPr>
            <a:r>
              <a:rPr lang="de-DE" dirty="0"/>
              <a:t>- </a:t>
            </a:r>
            <a:r>
              <a:rPr lang="en-US" dirty="0"/>
              <a:t>Afterwards, the regression analyses of the correlated variables were done to develop regression</a:t>
            </a:r>
            <a:r>
              <a:rPr lang="de-DE" dirty="0"/>
              <a:t> </a:t>
            </a:r>
            <a:r>
              <a:rPr lang="en-US" dirty="0"/>
              <a:t>model after equation 2.</a:t>
            </a:r>
            <a:endParaRPr lang="de-DE" dirty="0"/>
          </a:p>
          <a:p>
            <a:pPr marL="0" indent="0">
              <a:buNone/>
            </a:pPr>
            <a:r>
              <a:rPr lang="en-US" i="1" dirty="0"/>
              <a:t>y </a:t>
            </a:r>
            <a:r>
              <a:rPr lang="de-DE" dirty="0"/>
              <a:t>= </a:t>
            </a:r>
            <a:r>
              <a:rPr lang="en-US" i="1" dirty="0"/>
              <a:t>ax </a:t>
            </a:r>
            <a:r>
              <a:rPr lang="de-DE" dirty="0"/>
              <a:t>+</a:t>
            </a:r>
            <a:r>
              <a:rPr lang="en-US" i="1" dirty="0"/>
              <a:t>b</a:t>
            </a:r>
            <a:r>
              <a:rPr lang="en-US" dirty="0"/>
              <a:t>.............................(2)</a:t>
            </a:r>
            <a:endParaRPr lang="de-DE" dirty="0"/>
          </a:p>
          <a:p>
            <a:pPr marL="0" indent="0">
              <a:buNone/>
            </a:pPr>
            <a:r>
              <a:rPr lang="en-US" dirty="0"/>
              <a:t>Where, X = time (year), a = slope coefficients and b = least square estimates of the intercept.</a:t>
            </a:r>
          </a:p>
          <a:p>
            <a:pPr marL="0" indent="0">
              <a:buNone/>
            </a:pPr>
            <a:endParaRPr lang="en-US" dirty="0"/>
          </a:p>
          <a:p>
            <a:pPr>
              <a:buFontTx/>
              <a:buChar char="-"/>
            </a:pPr>
            <a:r>
              <a:rPr lang="en-US" dirty="0"/>
              <a:t>The low annual coefficient of variation in rainfall suggests that rainfall is less variable from year</a:t>
            </a:r>
            <a:r>
              <a:rPr lang="de-DE" dirty="0"/>
              <a:t> </a:t>
            </a:r>
            <a:r>
              <a:rPr lang="en-US" dirty="0"/>
              <a:t>to year and that variability is greater between the months of May to October which coincides</a:t>
            </a:r>
            <a:r>
              <a:rPr lang="de-DE" dirty="0"/>
              <a:t> </a:t>
            </a:r>
            <a:r>
              <a:rPr lang="en-US" dirty="0"/>
              <a:t>with rainy season, when more than 92% of annual rainfall is recorded.</a:t>
            </a:r>
          </a:p>
          <a:p>
            <a:pPr>
              <a:buFontTx/>
              <a:buChar char="-"/>
            </a:pPr>
            <a:endParaRPr lang="en-US" dirty="0"/>
          </a:p>
          <a:p>
            <a:pPr>
              <a:buFontTx/>
              <a:buChar char="-"/>
            </a:pPr>
            <a:r>
              <a:rPr lang="en-US" dirty="0"/>
              <a:t>The correlation coefficients between rainfall and other hydrologic and reservoir variables for</a:t>
            </a:r>
            <a:r>
              <a:rPr lang="de-DE" dirty="0"/>
              <a:t> </a:t>
            </a:r>
            <a:r>
              <a:rPr lang="en-US" dirty="0" err="1"/>
              <a:t>Shiroro</a:t>
            </a:r>
            <a:r>
              <a:rPr lang="en-US" dirty="0"/>
              <a:t> dam is presented in table 2.</a:t>
            </a:r>
          </a:p>
          <a:p>
            <a:pPr marL="0" indent="0">
              <a:buNone/>
            </a:pPr>
            <a:endParaRPr lang="de-DE" dirty="0"/>
          </a:p>
          <a:p>
            <a:pPr>
              <a:buFontTx/>
              <a:buChar char="-"/>
            </a:pPr>
            <a:endParaRPr lang="de-DE" dirty="0"/>
          </a:p>
          <a:p>
            <a:pPr marL="0" indent="0">
              <a:buNone/>
            </a:pPr>
            <a:endParaRPr lang="de-DE" dirty="0"/>
          </a:p>
          <a:p>
            <a:pPr marL="0" indent="0">
              <a:buNone/>
            </a:pPr>
            <a:endParaRPr lang="de-DE"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48746" y="2696066"/>
            <a:ext cx="11657308" cy="3996965"/>
          </a:xfrm>
          <a:prstGeom prst="rect">
            <a:avLst/>
          </a:prstGeom>
          <a:noFill/>
          <a:ln>
            <a:noFill/>
          </a:ln>
        </p:spPr>
      </p:pic>
    </p:spTree>
    <p:extLst>
      <p:ext uri="{BB962C8B-B14F-4D97-AF65-F5344CB8AC3E}">
        <p14:creationId xmlns:p14="http://schemas.microsoft.com/office/powerpoint/2010/main" val="19375266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547" y="179109"/>
            <a:ext cx="11915481" cy="6513922"/>
          </a:xfrm>
        </p:spPr>
        <p:txBody>
          <a:bodyPr/>
          <a:lstStyle/>
          <a:p>
            <a:pPr marL="0" indent="0">
              <a:buNone/>
            </a:pPr>
            <a:r>
              <a:rPr lang="en-US" dirty="0"/>
              <a:t>A</a:t>
            </a:r>
            <a:r>
              <a:rPr lang="de-DE" dirty="0"/>
              <a:t> </a:t>
            </a:r>
            <a:r>
              <a:rPr lang="en-US" dirty="0"/>
              <a:t>correlation coefficient of rainfall of 0.770 reveals a very strong relationship. The moderate rise in</a:t>
            </a:r>
            <a:r>
              <a:rPr lang="de-DE" dirty="0"/>
              <a:t> </a:t>
            </a:r>
            <a:r>
              <a:rPr lang="en-US" dirty="0"/>
              <a:t>inflow of about 0.439 (44%) indicated non-significant decrease in inflow into </a:t>
            </a:r>
            <a:r>
              <a:rPr lang="en-US" dirty="0" err="1"/>
              <a:t>Shiroro</a:t>
            </a:r>
            <a:r>
              <a:rPr lang="en-US" dirty="0"/>
              <a:t> dam. The turbine release of about 12% and the corresponding increase in reservoir storage of 11%</a:t>
            </a:r>
            <a:r>
              <a:rPr lang="de-DE" dirty="0"/>
              <a:t> </a:t>
            </a:r>
            <a:r>
              <a:rPr lang="en-US" dirty="0"/>
              <a:t>has helped maintain all year round power generation at the dam.</a:t>
            </a:r>
          </a:p>
          <a:p>
            <a:pPr marL="0" indent="0">
              <a:buNone/>
            </a:pPr>
            <a:endParaRPr lang="de-DE" dirty="0"/>
          </a:p>
          <a:p>
            <a:pPr>
              <a:buFontTx/>
              <a:buChar char="-"/>
            </a:pPr>
            <a:endParaRPr lang="de-DE" dirty="0"/>
          </a:p>
          <a:p>
            <a:pPr marL="0" indent="0">
              <a:buNone/>
            </a:pPr>
            <a:endParaRPr lang="de-DE" dirty="0"/>
          </a:p>
          <a:p>
            <a:pPr marL="0" indent="0">
              <a:buNone/>
            </a:pPr>
            <a:endParaRPr lang="de-DE"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22547" y="2861035"/>
            <a:ext cx="11657308" cy="3996965"/>
          </a:xfrm>
          <a:prstGeom prst="rect">
            <a:avLst/>
          </a:prstGeom>
          <a:noFill/>
          <a:ln>
            <a:noFill/>
          </a:ln>
        </p:spPr>
      </p:pic>
    </p:spTree>
    <p:extLst>
      <p:ext uri="{BB962C8B-B14F-4D97-AF65-F5344CB8AC3E}">
        <p14:creationId xmlns:p14="http://schemas.microsoft.com/office/powerpoint/2010/main" val="3754200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7963" y="141403"/>
            <a:ext cx="11792932" cy="707009"/>
          </a:xfrm>
        </p:spPr>
        <p:txBody>
          <a:bodyPr/>
          <a:lstStyle/>
          <a:p>
            <a:r>
              <a:rPr lang="de-DE" dirty="0"/>
              <a:t>Conclusion</a:t>
            </a:r>
          </a:p>
        </p:txBody>
      </p:sp>
      <p:sp>
        <p:nvSpPr>
          <p:cNvPr id="3" name="Content Placeholder 2"/>
          <p:cNvSpPr>
            <a:spLocks noGrp="1"/>
          </p:cNvSpPr>
          <p:nvPr>
            <p:ph idx="1"/>
          </p:nvPr>
        </p:nvSpPr>
        <p:spPr>
          <a:xfrm>
            <a:off x="197963" y="848412"/>
            <a:ext cx="11792932" cy="5844619"/>
          </a:xfrm>
        </p:spPr>
        <p:txBody>
          <a:bodyPr>
            <a:normAutofit fontScale="92500" lnSpcReduction="20000"/>
          </a:bodyPr>
          <a:lstStyle/>
          <a:p>
            <a:pPr>
              <a:buFontTx/>
              <a:buChar char="-"/>
            </a:pPr>
            <a:r>
              <a:rPr lang="en-US" dirty="0"/>
              <a:t>Hydropower generation varies from year</a:t>
            </a:r>
            <a:r>
              <a:rPr lang="de-DE" dirty="0"/>
              <a:t> </a:t>
            </a:r>
            <a:r>
              <a:rPr lang="en-US" dirty="0"/>
              <a:t>to year for a number of reasons, including variations in weather and</a:t>
            </a:r>
            <a:r>
              <a:rPr lang="de-DE" dirty="0"/>
              <a:t> </a:t>
            </a:r>
            <a:r>
              <a:rPr lang="en-US" dirty="0"/>
              <a:t>runoff, the changing condition of hydropower equipment, </a:t>
            </a:r>
            <a:r>
              <a:rPr lang="en-US" dirty="0" err="1"/>
              <a:t>nonpower</a:t>
            </a:r>
            <a:r>
              <a:rPr lang="de-DE" dirty="0"/>
              <a:t> </a:t>
            </a:r>
            <a:r>
              <a:rPr lang="en-US" dirty="0"/>
              <a:t>water uses and environmental requirements. </a:t>
            </a:r>
          </a:p>
          <a:p>
            <a:pPr marL="0" indent="0">
              <a:buNone/>
            </a:pPr>
            <a:endParaRPr lang="en-US" dirty="0"/>
          </a:p>
          <a:p>
            <a:pPr>
              <a:buFontTx/>
              <a:buChar char="-"/>
            </a:pPr>
            <a:r>
              <a:rPr lang="en-US" dirty="0"/>
              <a:t>Hydrologic</a:t>
            </a:r>
            <a:r>
              <a:rPr lang="de-DE" dirty="0"/>
              <a:t> </a:t>
            </a:r>
            <a:r>
              <a:rPr lang="en-US" dirty="0"/>
              <a:t>Variability which is jointly influenced by precipitation, evaporation,</a:t>
            </a:r>
            <a:r>
              <a:rPr lang="de-DE" dirty="0"/>
              <a:t> </a:t>
            </a:r>
            <a:r>
              <a:rPr lang="en-US" dirty="0"/>
              <a:t>snowfall, soil moisture, groundwater and reservoir operation was</a:t>
            </a:r>
            <a:r>
              <a:rPr lang="de-DE" dirty="0"/>
              <a:t> </a:t>
            </a:r>
            <a:r>
              <a:rPr lang="en-US" dirty="0"/>
              <a:t>found to be a significant factor in the annual</a:t>
            </a:r>
            <a:r>
              <a:rPr lang="de-DE" dirty="0"/>
              <a:t> </a:t>
            </a:r>
            <a:r>
              <a:rPr lang="en-US" dirty="0"/>
              <a:t>hydropower generation. However, given the large number of federal</a:t>
            </a:r>
            <a:r>
              <a:rPr lang="de-DE" dirty="0"/>
              <a:t> </a:t>
            </a:r>
            <a:r>
              <a:rPr lang="en-US" dirty="0"/>
              <a:t>hydropower plants and the diverse hydrologic conditions,</a:t>
            </a:r>
            <a:r>
              <a:rPr lang="de-DE" dirty="0"/>
              <a:t> </a:t>
            </a:r>
            <a:r>
              <a:rPr lang="en-US" dirty="0"/>
              <a:t>evaluating the impacts of climate change on all federal hydropower</a:t>
            </a:r>
            <a:r>
              <a:rPr lang="de-DE" dirty="0"/>
              <a:t> </a:t>
            </a:r>
            <a:r>
              <a:rPr lang="en-US" dirty="0"/>
              <a:t>plants through a conventional reservoir-based approach is</a:t>
            </a:r>
            <a:r>
              <a:rPr lang="de-DE" dirty="0"/>
              <a:t> </a:t>
            </a:r>
            <a:r>
              <a:rPr lang="en-US" dirty="0"/>
              <a:t>currently not tractable in a single national-scale study. </a:t>
            </a:r>
            <a:endParaRPr lang="de-DE" dirty="0"/>
          </a:p>
          <a:p>
            <a:pPr>
              <a:buFontTx/>
              <a:buChar char="-"/>
            </a:pPr>
            <a:endParaRPr lang="de-DE" dirty="0"/>
          </a:p>
          <a:p>
            <a:pPr marL="0" indent="0">
              <a:buNone/>
            </a:pPr>
            <a:r>
              <a:rPr lang="en-US" dirty="0"/>
              <a:t>- Given the complexity of energy water</a:t>
            </a:r>
            <a:r>
              <a:rPr lang="de-DE" dirty="0"/>
              <a:t> </a:t>
            </a:r>
            <a:r>
              <a:rPr lang="en-US" dirty="0"/>
              <a:t>facilities and limited information of existing hydropower</a:t>
            </a:r>
            <a:r>
              <a:rPr lang="de-DE" dirty="0"/>
              <a:t> </a:t>
            </a:r>
            <a:r>
              <a:rPr lang="en-US" dirty="0"/>
              <a:t>data, it is unlikely to address all issues across multiple power plants</a:t>
            </a:r>
            <a:r>
              <a:rPr lang="de-DE" dirty="0"/>
              <a:t> </a:t>
            </a:r>
            <a:r>
              <a:rPr lang="en-US" dirty="0"/>
              <a:t>and scales using a single model. Depending on the scale (e.g., national,</a:t>
            </a:r>
            <a:r>
              <a:rPr lang="de-DE" dirty="0"/>
              <a:t> </a:t>
            </a:r>
            <a:r>
              <a:rPr lang="en-US" dirty="0"/>
              <a:t>regional, or plant-wise) and the nature of the problem (e.g.,</a:t>
            </a:r>
            <a:r>
              <a:rPr lang="de-DE" dirty="0"/>
              <a:t> </a:t>
            </a:r>
            <a:r>
              <a:rPr lang="en-US" dirty="0"/>
              <a:t>reservoir operation, risk assessment, or resource planning), one</a:t>
            </a:r>
            <a:r>
              <a:rPr lang="de-DE" dirty="0"/>
              <a:t> </a:t>
            </a:r>
            <a:r>
              <a:rPr lang="en-US" dirty="0"/>
              <a:t>would likely need to develop different kinds of models for different</a:t>
            </a:r>
            <a:r>
              <a:rPr lang="de-DE" dirty="0"/>
              <a:t> </a:t>
            </a:r>
            <a:r>
              <a:rPr lang="en-US" dirty="0"/>
              <a:t>challenges. </a:t>
            </a:r>
            <a:endParaRPr lang="de-DE" dirty="0"/>
          </a:p>
          <a:p>
            <a:pPr>
              <a:buFontTx/>
              <a:buChar char="-"/>
            </a:pPr>
            <a:endParaRPr lang="de-DE" dirty="0"/>
          </a:p>
        </p:txBody>
      </p:sp>
    </p:spTree>
    <p:extLst>
      <p:ext uri="{BB962C8B-B14F-4D97-AF65-F5344CB8AC3E}">
        <p14:creationId xmlns:p14="http://schemas.microsoft.com/office/powerpoint/2010/main" val="14904840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48" y="84841"/>
            <a:ext cx="11231252" cy="575035"/>
          </a:xfrm>
        </p:spPr>
        <p:txBody>
          <a:bodyPr>
            <a:normAutofit fontScale="90000"/>
          </a:bodyPr>
          <a:lstStyle/>
          <a:p>
            <a:r>
              <a:rPr lang="de-DE" dirty="0"/>
              <a:t>Challenges</a:t>
            </a:r>
          </a:p>
        </p:txBody>
      </p:sp>
      <p:sp>
        <p:nvSpPr>
          <p:cNvPr id="3" name="Content Placeholder 2"/>
          <p:cNvSpPr>
            <a:spLocks noGrp="1"/>
          </p:cNvSpPr>
          <p:nvPr>
            <p:ph idx="1"/>
          </p:nvPr>
        </p:nvSpPr>
        <p:spPr>
          <a:xfrm>
            <a:off x="122548" y="2187019"/>
            <a:ext cx="11906054" cy="4477732"/>
          </a:xfrm>
        </p:spPr>
        <p:txBody>
          <a:bodyPr/>
          <a:lstStyle/>
          <a:p>
            <a:pPr>
              <a:buFontTx/>
              <a:buChar char="-"/>
            </a:pPr>
            <a:r>
              <a:rPr lang="en-US" dirty="0"/>
              <a:t>Hydrologic</a:t>
            </a:r>
            <a:r>
              <a:rPr lang="de-DE" dirty="0"/>
              <a:t> </a:t>
            </a:r>
            <a:r>
              <a:rPr lang="en-US" dirty="0"/>
              <a:t>Variability which is jointly influenced by precipitation, evaporation,</a:t>
            </a:r>
            <a:r>
              <a:rPr lang="de-DE" dirty="0"/>
              <a:t> </a:t>
            </a:r>
            <a:r>
              <a:rPr lang="en-US" dirty="0"/>
              <a:t>snowfall, soil moisture, groundwater and reservoir operation was</a:t>
            </a:r>
            <a:r>
              <a:rPr lang="de-DE" dirty="0"/>
              <a:t> </a:t>
            </a:r>
            <a:r>
              <a:rPr lang="en-US" dirty="0"/>
              <a:t>found to be a significant factor in the annual</a:t>
            </a:r>
            <a:r>
              <a:rPr lang="de-DE" dirty="0"/>
              <a:t> </a:t>
            </a:r>
            <a:r>
              <a:rPr lang="en-US" dirty="0"/>
              <a:t>hydropower generation. However it is hard to track all the conditions. </a:t>
            </a:r>
          </a:p>
          <a:p>
            <a:pPr marL="0" indent="0">
              <a:buNone/>
            </a:pPr>
            <a:endParaRPr lang="en-US" dirty="0"/>
          </a:p>
          <a:p>
            <a:pPr>
              <a:buFontTx/>
              <a:buChar char="-"/>
            </a:pPr>
            <a:endParaRPr lang="en-US" dirty="0"/>
          </a:p>
          <a:p>
            <a:endParaRPr lang="de-DE" dirty="0"/>
          </a:p>
          <a:p>
            <a:endParaRPr lang="de-DE" dirty="0"/>
          </a:p>
        </p:txBody>
      </p:sp>
    </p:spTree>
    <p:extLst>
      <p:ext uri="{BB962C8B-B14F-4D97-AF65-F5344CB8AC3E}">
        <p14:creationId xmlns:p14="http://schemas.microsoft.com/office/powerpoint/2010/main" val="2965339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670" y="122549"/>
            <a:ext cx="10576874" cy="848412"/>
          </a:xfrm>
        </p:spPr>
        <p:txBody>
          <a:bodyPr/>
          <a:lstStyle/>
          <a:p>
            <a:r>
              <a:rPr lang="de-DE" dirty="0"/>
              <a:t>Conclusion</a:t>
            </a:r>
          </a:p>
        </p:txBody>
      </p:sp>
      <p:sp>
        <p:nvSpPr>
          <p:cNvPr id="4" name="Rectangle 3"/>
          <p:cNvSpPr/>
          <p:nvPr/>
        </p:nvSpPr>
        <p:spPr>
          <a:xfrm>
            <a:off x="235670" y="1591217"/>
            <a:ext cx="11566689" cy="4031873"/>
          </a:xfrm>
          <a:prstGeom prst="rect">
            <a:avLst/>
          </a:prstGeom>
        </p:spPr>
        <p:txBody>
          <a:bodyPr wrap="square">
            <a:spAutoFit/>
          </a:bodyPr>
          <a:lstStyle/>
          <a:p>
            <a:r>
              <a:rPr lang="en-US" sz="3200" dirty="0"/>
              <a:t>Given the complexity of energy water</a:t>
            </a:r>
            <a:r>
              <a:rPr lang="de-DE" sz="3200" dirty="0"/>
              <a:t> </a:t>
            </a:r>
            <a:r>
              <a:rPr lang="en-US" sz="3200" dirty="0"/>
              <a:t>facilities and limited information of existing hydropower</a:t>
            </a:r>
            <a:r>
              <a:rPr lang="de-DE" sz="3200" dirty="0"/>
              <a:t> </a:t>
            </a:r>
            <a:r>
              <a:rPr lang="en-US" sz="3200" dirty="0"/>
              <a:t>data, it is unlikely to address all issues across multiple power plants</a:t>
            </a:r>
            <a:r>
              <a:rPr lang="de-DE" sz="3200" dirty="0"/>
              <a:t> </a:t>
            </a:r>
            <a:r>
              <a:rPr lang="en-US" sz="3200" dirty="0"/>
              <a:t>and scales using </a:t>
            </a:r>
            <a:r>
              <a:rPr lang="en-US" sz="3200" b="1" i="1" dirty="0"/>
              <a:t>a single model</a:t>
            </a:r>
            <a:r>
              <a:rPr lang="en-US" sz="3200" dirty="0"/>
              <a:t>. </a:t>
            </a:r>
          </a:p>
          <a:p>
            <a:endParaRPr lang="en-US" sz="3200" dirty="0"/>
          </a:p>
          <a:p>
            <a:r>
              <a:rPr lang="en-US" sz="3200" dirty="0"/>
              <a:t>Depending on the scale (e.g., national,</a:t>
            </a:r>
            <a:r>
              <a:rPr lang="de-DE" sz="3200" dirty="0"/>
              <a:t> </a:t>
            </a:r>
            <a:r>
              <a:rPr lang="en-US" sz="3200" dirty="0"/>
              <a:t>regional, or plant-wise) and the nature of the problem (e.g.,</a:t>
            </a:r>
            <a:r>
              <a:rPr lang="de-DE" sz="3200" dirty="0"/>
              <a:t> </a:t>
            </a:r>
            <a:r>
              <a:rPr lang="en-US" sz="3200" dirty="0"/>
              <a:t>reservoir operation, risk assessment, or resource planning), one</a:t>
            </a:r>
            <a:r>
              <a:rPr lang="de-DE" sz="3200" dirty="0"/>
              <a:t> </a:t>
            </a:r>
            <a:r>
              <a:rPr lang="en-US" sz="3200" dirty="0"/>
              <a:t>would likely need to develop different kinds of models for different</a:t>
            </a:r>
            <a:r>
              <a:rPr lang="de-DE" sz="3200" dirty="0"/>
              <a:t> </a:t>
            </a:r>
            <a:r>
              <a:rPr lang="en-US" sz="3200" dirty="0"/>
              <a:t>challenges. </a:t>
            </a:r>
            <a:endParaRPr lang="de-DE" sz="3200" dirty="0"/>
          </a:p>
        </p:txBody>
      </p:sp>
    </p:spTree>
    <p:extLst>
      <p:ext uri="{BB962C8B-B14F-4D97-AF65-F5344CB8AC3E}">
        <p14:creationId xmlns:p14="http://schemas.microsoft.com/office/powerpoint/2010/main" val="2275353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1782</Words>
  <Application>Microsoft Macintosh PowerPoint</Application>
  <PresentationFormat>Widescreen</PresentationFormat>
  <Paragraphs>155</Paragraphs>
  <Slides>24</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Calibri Light (Headings)</vt:lpstr>
      <vt:lpstr>Office Theme</vt:lpstr>
      <vt:lpstr>Find the method to predict the future hydropower generation </vt:lpstr>
      <vt:lpstr>Literature Review</vt:lpstr>
      <vt:lpstr>1.  Alejandra‘s approach </vt:lpstr>
      <vt:lpstr>Challenges</vt:lpstr>
      <vt:lpstr>2. Applying a Correlation Analysis Method to Long-Term Forecasting of Power Production at Small Hydropower Plants  </vt:lpstr>
      <vt:lpstr>PowerPoint Presentation</vt:lpstr>
      <vt:lpstr>Randomness of a Single Plant </vt:lpstr>
      <vt:lpstr>Spatial Differences </vt:lpstr>
      <vt:lpstr>Similarity of Regions </vt:lpstr>
      <vt:lpstr>Continue  </vt:lpstr>
      <vt:lpstr>Step to make a correlation</vt:lpstr>
      <vt:lpstr>PowerPoint Presentation</vt:lpstr>
      <vt:lpstr>Case study in a district in China</vt:lpstr>
      <vt:lpstr>PowerPoint Presentation</vt:lpstr>
      <vt:lpstr>Challenges</vt:lpstr>
      <vt:lpstr>Benefit</vt:lpstr>
      <vt:lpstr>3. Projecting changes in annual hydropower generation using regional runoff data   </vt:lpstr>
      <vt:lpstr>Challenges</vt:lpstr>
      <vt:lpstr>4. The Role of Rainfall Variability in Reservoir Storage Management at Hydropower Dam    </vt:lpstr>
      <vt:lpstr>PowerPoint Presentation</vt:lpstr>
      <vt:lpstr>PowerPoint Presentation</vt:lpstr>
      <vt:lpstr>Conclusion</vt:lpstr>
      <vt:lpstr>Challenges</vt:lpstr>
      <vt:lpstr>Conclusion</vt:lpstr>
    </vt:vector>
  </TitlesOfParts>
  <LinksUpToDate>false</LinksUpToDate>
  <SharedDoc>false</SharedDoc>
  <HyperlinksChanged>false</HyperlinksChanged>
  <AppVersion>15.0028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 the method to predict the future hydroplant</dc:title>
  <dc:creator>Yong Jin Kweon</dc:creator>
  <cp:lastModifiedBy>Yong Jin Kweon</cp:lastModifiedBy>
  <cp:revision>43</cp:revision>
  <dcterms:created xsi:type="dcterms:W3CDTF">2016-10-27T03:59:55Z</dcterms:created>
  <dcterms:modified xsi:type="dcterms:W3CDTF">2021-01-05T09:54:03Z</dcterms:modified>
</cp:coreProperties>
</file>